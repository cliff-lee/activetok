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43a5a9d7834adc" /><Relationship Type="http://schemas.openxmlformats.org/officeDocument/2006/relationships/extended-properties" Target="/docProps/app.xml" Id="R8572e0ba63224da4" /><Relationship Type="http://schemas.openxmlformats.org/officeDocument/2006/relationships/officeDocument" Target="/ppt/presentation.xml" Id="Rdf4577c1758040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0f87ca57404cd2"/>
  </p:sldMasterIdLst>
  <p:notesMasterIdLst>
    <p:notesMasterId xmlns:r="http://schemas.openxmlformats.org/officeDocument/2006/relationships" r:id="R5bd79c6a5cf04bcf"/>
  </p:notesMasterIdLst>
  <p:sldIdLst>
    <p:sldId xmlns:r="http://schemas.openxmlformats.org/officeDocument/2006/relationships" id="256" r:id="R05d31147d0a04e02"/>
    <p:sldId xmlns:r="http://schemas.openxmlformats.org/officeDocument/2006/relationships" id="257" r:id="Rb174bf4808374a61"/>
    <p:sldId xmlns:r="http://schemas.openxmlformats.org/officeDocument/2006/relationships" id="258" r:id="R0f78eb621bbc4f75"/>
    <p:sldId xmlns:r="http://schemas.openxmlformats.org/officeDocument/2006/relationships" id="259" r:id="Rda9c9127886d4059"/>
    <p:sldId xmlns:r="http://schemas.openxmlformats.org/officeDocument/2006/relationships" id="260" r:id="R0f8f8ee61b944bc1"/>
    <p:sldId xmlns:r="http://schemas.openxmlformats.org/officeDocument/2006/relationships" id="261" r:id="Red53daee75b14152"/>
    <p:sldId xmlns:r="http://schemas.openxmlformats.org/officeDocument/2006/relationships" id="262" r:id="R3e9fa1057c374c4a"/>
    <p:sldId xmlns:r="http://schemas.openxmlformats.org/officeDocument/2006/relationships" id="263" r:id="R6d511f52f7264d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b6c35def4479e" /><Relationship Type="http://schemas.openxmlformats.org/officeDocument/2006/relationships/slideMaster" Target="/ppt/slideMasters/slideMaster1.xml" Id="Rd40f87ca57404cd2" /><Relationship Type="http://schemas.openxmlformats.org/officeDocument/2006/relationships/notesMaster" Target="/ppt/notesMasters/notesMaster1.xml" Id="R5bd79c6a5cf04bcf" /><Relationship Type="http://schemas.openxmlformats.org/officeDocument/2006/relationships/presProps" Target="/ppt/presProps.xml" Id="Rb2ee26eb5a444feb" /><Relationship Type="http://schemas.openxmlformats.org/officeDocument/2006/relationships/tableStyles" Target="/ppt/tableStyles.xml" Id="Reeb233a548264a27" /><Relationship Type="http://schemas.openxmlformats.org/officeDocument/2006/relationships/slide" Target="/ppt/slides/slide1.xml" Id="R05d31147d0a04e02" /><Relationship Type="http://schemas.openxmlformats.org/officeDocument/2006/relationships/slide" Target="/ppt/slides/slide2.xml" Id="Rb174bf4808374a61" /><Relationship Type="http://schemas.openxmlformats.org/officeDocument/2006/relationships/slide" Target="/ppt/slides/slide3.xml" Id="R0f78eb621bbc4f75" /><Relationship Type="http://schemas.openxmlformats.org/officeDocument/2006/relationships/slide" Target="/ppt/slides/slide4.xml" Id="Rda9c9127886d4059" /><Relationship Type="http://schemas.openxmlformats.org/officeDocument/2006/relationships/slide" Target="/ppt/slides/slide5.xml" Id="R0f8f8ee61b944bc1" /><Relationship Type="http://schemas.openxmlformats.org/officeDocument/2006/relationships/slide" Target="/ppt/slides/slide6.xml" Id="Red53daee75b14152" /><Relationship Type="http://schemas.openxmlformats.org/officeDocument/2006/relationships/slide" Target="/ppt/slides/slide7.xml" Id="R3e9fa1057c374c4a" /><Relationship Type="http://schemas.openxmlformats.org/officeDocument/2006/relationships/slide" Target="/ppt/slides/slide8.xml" Id="R6d511f52f7264d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5c903f2cc4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7ccf82ba4474e" /><Relationship Type="http://schemas.openxmlformats.org/officeDocument/2006/relationships/notesMaster" Target="/ppt/notesMasters/notesMaster1.xml" Id="Ra2e79d8fcd2f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5b24af0337469a" /><Relationship Type="http://schemas.openxmlformats.org/officeDocument/2006/relationships/notesMaster" Target="/ppt/notesMasters/notesMaster1.xml" Id="Rd3adce36562846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05227e0fb4c1b" /><Relationship Type="http://schemas.openxmlformats.org/officeDocument/2006/relationships/notesMaster" Target="/ppt/notesMasters/notesMaster1.xml" Id="R7c02fc832c2d4a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2ea3943c8e43cb" /><Relationship Type="http://schemas.openxmlformats.org/officeDocument/2006/relationships/notesMaster" Target="/ppt/notesMasters/notesMaster1.xml" Id="Rf9b586342a7344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72cc87474d4b52" /><Relationship Type="http://schemas.openxmlformats.org/officeDocument/2006/relationships/notesMaster" Target="/ppt/notesMasters/notesMaster1.xml" Id="R2d8f5f9241d4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6cde35169a479a" /><Relationship Type="http://schemas.openxmlformats.org/officeDocument/2006/relationships/notesMaster" Target="/ppt/notesMasters/notesMaster1.xml" Id="Rce2a20f99fff40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83582f51a43ea" /><Relationship Type="http://schemas.openxmlformats.org/officeDocument/2006/relationships/notesMaster" Target="/ppt/notesMasters/notesMaster1.xml" Id="R791de7e2e15c4a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456239261c4bd3" /><Relationship Type="http://schemas.openxmlformats.org/officeDocument/2006/relationships/notesMaster" Target="/ppt/notesMasters/notesMaster1.xml" Id="R52b2c983493e40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1c280354645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a957800304d13" /><Relationship Type="http://schemas.openxmlformats.org/officeDocument/2006/relationships/slideLayout" Target="/ppt/slideLayouts/slideLayout1.xml" Id="R8b04dffa6859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4dffa6859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ded9485dc43d4" /><Relationship Type="http://schemas.openxmlformats.org/officeDocument/2006/relationships/image" Target="/ppt/media/image.png" Id="R6472d8c5617e4f2d" /><Relationship Type="http://schemas.openxmlformats.org/officeDocument/2006/relationships/image" Target="/ppt/media/image.svg" Id="R866bf8709a354b5d" /><Relationship Type="http://schemas.openxmlformats.org/officeDocument/2006/relationships/notesSlide" Target="/ppt/notesSlides/notesSlide1.xml" Id="R1b75adf4604f46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7890f77314195" /><Relationship Type="http://schemas.openxmlformats.org/officeDocument/2006/relationships/notesSlide" Target="/ppt/notesSlides/notesSlide2.xml" Id="R8b09afb7eeac4c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9ae43d8654fe0" /><Relationship Type="http://schemas.openxmlformats.org/officeDocument/2006/relationships/image" Target="/ppt/media/image2.png" Id="Rdd05a9034995412f" /><Relationship Type="http://schemas.openxmlformats.org/officeDocument/2006/relationships/image" Target="/ppt/media/image2.svg" Id="R8139a1e593794915" /><Relationship Type="http://schemas.openxmlformats.org/officeDocument/2006/relationships/notesSlide" Target="/ppt/notesSlides/notesSlide3.xml" Id="R4533bd93049a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239b04d934680" /><Relationship Type="http://schemas.openxmlformats.org/officeDocument/2006/relationships/notesSlide" Target="/ppt/notesSlides/notesSlide4.xml" Id="R9f475b03081a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2c7c65e1466b" /><Relationship Type="http://schemas.openxmlformats.org/officeDocument/2006/relationships/notesSlide" Target="/ppt/notesSlides/notesSlide5.xml" Id="Rca9289d36ddc47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683cee0ef4415" /><Relationship Type="http://schemas.openxmlformats.org/officeDocument/2006/relationships/notesSlide" Target="/ppt/notesSlides/notesSlide6.xml" Id="R5616d416394641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a7ce7e9494f23" /><Relationship Type="http://schemas.openxmlformats.org/officeDocument/2006/relationships/image" Target="/ppt/media/image3.png" Id="R86491488b352402b" /><Relationship Type="http://schemas.openxmlformats.org/officeDocument/2006/relationships/image" Target="/ppt/media/image3.svg" Id="R9787cb8ea0104dc5" /><Relationship Type="http://schemas.openxmlformats.org/officeDocument/2006/relationships/notesSlide" Target="/ppt/notesSlides/notesSlide7.xml" Id="R0af3d6ae3395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11d1fa7244d1e" /><Relationship Type="http://schemas.openxmlformats.org/officeDocument/2006/relationships/notesSlide" Target="/ppt/notesSlides/notesSlide8.xml" Id="R934ac650f5714c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9636D-8A8F-4AD7-98BA-F5E5B0B5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EAB1F-EA93-465F-932D-2112F6AF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F60F8-FD14-4398-9886-8FB225B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21CF2-60E8-435D-9E2F-ED86A84B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CD9C3-340E-475B-9C18-8E71C51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7298C-883F-473F-9EF1-AE6279BD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0F570-14F4-46FC-AB1D-4BE98CB2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Invisible Gorilla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42246-7C53-4AF0-925F-F4C10EF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2d8c5617e4f2d">
            <a:extLst>
              <a:ext uri="{96DAC541-7B7A-43D3-8B79-37D633B846F1}">
                <asvg:svgBlip xmlns:asvg="http://schemas.microsoft.com/office/drawing/2016/SVG/main" r:embed="R866bf8709a354b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CA912-B758-4860-9FEC-2B0C6DB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F1592-5FF9-4062-B89D-8163DED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6BE5F-9E69-4D88-98FA-07D0D4B8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05D1D-6501-48F8-A125-F00EA37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Attention is not a neutral spotlight; it decides which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evidence enters awareness.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44649-5960-478F-95E0-E109BF9A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2343C-B617-4725-B5F8-FA9C6135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DA51B-47E0-4C7E-9B48-86A8A974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2B906-0455-40B0-A0B9-4B02879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20-25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9239759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2CADC3-0CE1-4969-ACB5-3D59EE0F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F8232-DB6F-4EE7-8A72-1C5BCCE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6549D-FEF6-4F5A-A178-8591D1E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84CA9-BA13-47BB-9FD4-28E6A94E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D053F-E0B5-47F1-8FAE-516FBDA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C64C7-088F-41DB-B6F0-D36A7B0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521B8-7F51-40B8-AC8A-77958927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A2F42-6F92-483B-81E2-16CD169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0C1F5-56AD-4C10-A9BB-40DC2D6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874E7-49BC-4954-9882-9026A59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E4886-5CCA-4EE8-B146-47972C73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36DE7-056D-4312-82E6-3C87ECCA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inattentional blindness through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simple counting or observation task.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Attention is not a neutral spotlight; it decides which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enters awareness.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0D38B-74CF-43A4-A977-1F832C7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6E05C-CA74-4A06-9C51-24F819A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69A92-D691-4E87-9499-C1B2484C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1DA6A-C3A7-4584-8C1D-EF5DABA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Short selective-attention video or teacher-created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movement/counting task.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Private answer slips and reveal slide.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Private count slip: target count, unexpected details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noticed, confidence rating.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Reveal slide with the unexpected element circled and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question about attention.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A74EA-217E-41BF-9DC4-9EE755E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0629737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C6C26-BFFA-41AD-A316-63CD1433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9A47E-23EA-4E91-A4FC-4222222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57848-F1AB-4753-A976-B793368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EB61-C15A-47F4-9F1C-B074A048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A60E4-BA0D-4B0A-8424-4AA59DE0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694D0-145B-48D3-9B5B-2A5D926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55F39-38B6-4489-8F1F-61BC901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032F0-4BCF-465D-9F45-33D7F24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5a9034995412f">
            <a:extLst>
              <a:ext uri="{96DAC541-7B7A-43D3-8B79-37D633B846F1}">
                <asvg:svgBlip xmlns:asvg="http://schemas.microsoft.com/office/drawing/2016/SVG/main" r:embed="R8139a1e5937949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8B595-BE1E-45A9-B35F-7DD7A0D0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C107F-74C9-49EF-B030-0847F2E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CFE5B-7465-4A83-ADF2-4B9E284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E5958-4859-442D-9E1A-60CDE10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Invisible Gorilla Discussion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Counting task: students count how many times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Invisible Gorilla Discussion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Desk task: students count red objects in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D0790-2F8C-45A4-8831-69E31376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3D2B9-C81B-474B-89C7-B19C918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3DC48-CF41-45E1-B5D6-9327957A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D35C4-BC4E-44CF-A16E-6F246D16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Invisible Gorilla Discussion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Invisible Gorilla Discussion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822681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4B6CD0-1146-49D9-911A-45C909E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BA91D-B3AB-41C7-A0D1-27D42826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F5EE6-880B-45CB-93AE-EEB0EA89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1B182-2164-4547-A0FF-614A1460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6B3B2-2D80-42CA-9BA8-8B778DB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862E4-80CB-40E4-A62F-79C21537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8D9DB-8D4B-4BC0-AD41-4C2D1DD5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022BB-392F-4802-BD0E-D4FEB63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E8E8C-014C-4CE2-B528-E3CF0807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3B947-B120-487C-8668-272450E9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62632-9D33-40FC-9088-29DBC89B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7B932-0DCD-4BE6-A5D0-209E3C62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one narrow observation task, such as counting passes or repeated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actions.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Run the short stimulus once without interruption.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Ask students to record the target count and anything unusual they noticed.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the unexpected element and compare what students missed.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task, expectation, and confidence shaped what became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29ACC-9A0E-4232-B2E6-FD527C89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7579751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73CB9-AF99-43B3-BCB1-B3B59F11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0CEC1-7D70-4EE3-B06E-9850163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C3462-1B0E-4B2F-A96F-25C1D589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B1A27-37D7-4D65-9B9F-4DA2F21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7653-590C-4FE0-A519-9171D183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47E63-EFC1-4887-AEA7-9D8A737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01D0B-EC35-4613-BC7A-7E9E0A67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4C2FF-A89F-428D-A778-5DA97CE3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B2ED-3D51-4E18-A511-1E248AED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D2086-C990-4420-B9EB-108AE76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BA081-8110-41E9-97CE-29FDF15D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007B1-6813-4A88-95CB-DB4F296F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53A09-7772-452D-9D82-36DAE31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6C462-F945-477D-8C9D-923DB281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EEC7D-E066-4D53-A37F-B06458A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4A3AF-B587-4777-9794-DA92BC4C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1B486-397C-4112-97DC-73FBACE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AB492-8B0B-40A2-83F7-9E696976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810C2-018F-478A-ACBE-40169F7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79585-A666-4400-902C-1B39ED8C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785FE-09BC-4992-9CFC-DE4058AC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AA2DC-B610-4341-954E-FAC9AF8E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ECD7A-4C47-4FCC-A2BC-B773A89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335D8-51F2-4907-B241-627B30CC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C1973-D7EB-4361-9313-CF6B51DA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085ED-1E99-4FAD-BD1D-1054F802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31B55-EE56-4D96-BAF5-476D1184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53C5B-D0DF-43FA-B1C7-EC3110C1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224093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5DA97-9AD3-4ECD-A86F-680FFB3E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5B1CD-A194-40B8-82FF-AECFDE3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C7868-0910-4976-8384-7CAF0EC4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71B70-FB67-42C5-85EC-E192AE34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7BD73-98A0-4A24-8CAE-613D194F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42685-E18C-4DDA-A313-FEEADD36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4901D-156E-42D0-A696-6C869CCD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3B22B-89EE-4CC0-9370-731BCCC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5119B-134D-458C-9A5C-90C5D0C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CA9C0-AE30-4EF6-A8D6-983E127F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57EE4-8ECE-4A69-B2F6-62FCF44E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67901-0881-4F5D-BE6D-636B46C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attention shape what counts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as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missing evidence be a rational consequence of focusing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well?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Where might expert attention improve knowledge and where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might it narrow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A989F-0CDD-4283-99C4-833E68E7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14D1A-636E-4E33-B0AB-F71EE436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790D5-F979-4605-8594-125A2BC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9B54C-CEDB-472D-8C99-34964A75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attention shape what counts as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To what extent is perception guided by expectation?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expertise create blind spots as well as insight?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4E018-70E8-40DB-AC89-4CBCEF2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3547649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5C651-5DE9-4A06-A96C-0F8A2810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0808B-3F5D-41B2-86EE-150EA46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22617-072D-448D-BC2E-4BF6E56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48D43-8B49-40F7-86D4-88C88F7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864F3-BC0C-4675-913E-A5B1284C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306C1-1C9D-4835-94A2-3AC1DE34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6FA4D-B5F3-4239-BE27-DC6E4D4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C200-F180-4CD7-8CB5-93AA7CC0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5F829-958D-4895-A92C-76E002C0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B8FEC-7F4B-46F3-9813-12089DE4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98458-0AC8-454A-8A67-E108E31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1AE83-9069-426C-9A3E-F1543CCB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counted accurately but missed the scarf because it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irrelevant to my task.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showed that focus improves one kind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while reducing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F8A4A-9A8C-42C9-9C19-7052253D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25188-8105-464D-AB80-85EA5437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D8A20-22E2-48E8-A835-7B725C03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AEAE6-AD29-4C1D-9034-CE119AD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design a fairer observation protocol for 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eyewitness or scientist.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selective attention in sport, medicine, driving,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classroom learning.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91488b352402b">
            <a:extLst>
              <a:ext uri="{96DAC541-7B7A-43D3-8B79-37D633B846F1}">
                <asvg:svgBlip xmlns:asvg="http://schemas.microsoft.com/office/drawing/2016/SVG/main" r:embed="R9787cb8ea0104d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720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9C903-B232-4004-88F4-5B1DA5CA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1BC7F-7CD4-4658-A6C2-511DB1AB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03F7B-704B-4F21-9647-A743002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B9C63-D3B9-4BB7-827F-894F0E3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239B1-D147-42DC-83E2-A41AC7D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5E7F8-78A0-4272-B6CE-D6583CD3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2F22E-159A-462A-9CCF-2325124F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552BD-C538-40D8-B52F-E14221C3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4E808-DEAE-4795-A0EF-6F774DD5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9C32F-4578-4284-8957-2EE7372C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C562C-A203-497E-8225-93A69C3C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2B4EF-2FFD-487B-BA4E-34BC559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still image from a selective-attention task with the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missed feature highlighted.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1A455-06D4-497A-94B2-BC8D98C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25CF7-8665-4784-8518-284D525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8FD23-7B83-4146-BE30-B3F4789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0E3B5-5DA1-47B8-8A29-F82D61FE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AE511-D8CA-4705-9F63-B23B915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8353C-4BD6-4FC9-8F6C-3E14ACD1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27E07-303E-4AA5-8B02-36177652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ACBE8-913E-424E-AD36-AD330508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Eyewitness Trap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Blind Spot Autobiography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C3651-356B-421D-8DA6-3BE53E9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099704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2026-06-20T10:31:37.9060000Z</dcterms:created>
  <dcterms:modified xsi:type="dcterms:W3CDTF">2026-06-20T10:31:37.9060000Z</dcterms:modified>
</coreProperties>
</file>