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1b080a87634084" /><Relationship Type="http://schemas.openxmlformats.org/officeDocument/2006/relationships/extended-properties" Target="/docProps/app.xml" Id="Rba18f00590124e30" /><Relationship Type="http://schemas.openxmlformats.org/officeDocument/2006/relationships/officeDocument" Target="/ppt/presentation.xml" Id="R25b16d2600724d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fc47f93fb64907"/>
  </p:sldMasterIdLst>
  <p:notesMasterIdLst>
    <p:notesMasterId xmlns:r="http://schemas.openxmlformats.org/officeDocument/2006/relationships" r:id="Rdcc10d8ba4e24028"/>
  </p:notesMasterIdLst>
  <p:sldIdLst>
    <p:sldId xmlns:r="http://schemas.openxmlformats.org/officeDocument/2006/relationships" id="256" r:id="Rd3cf4961c31f4f40"/>
    <p:sldId xmlns:r="http://schemas.openxmlformats.org/officeDocument/2006/relationships" id="257" r:id="R7d6347114e5f4caf"/>
    <p:sldId xmlns:r="http://schemas.openxmlformats.org/officeDocument/2006/relationships" id="258" r:id="Rfeb8939e699446ab"/>
    <p:sldId xmlns:r="http://schemas.openxmlformats.org/officeDocument/2006/relationships" id="259" r:id="Re8dba84437ed46b5"/>
    <p:sldId xmlns:r="http://schemas.openxmlformats.org/officeDocument/2006/relationships" id="260" r:id="R7352cfc4d9974a5b"/>
    <p:sldId xmlns:r="http://schemas.openxmlformats.org/officeDocument/2006/relationships" id="261" r:id="R09023fb0c8f24337"/>
    <p:sldId xmlns:r="http://schemas.openxmlformats.org/officeDocument/2006/relationships" id="262" r:id="R6a1b05765c104538"/>
    <p:sldId xmlns:r="http://schemas.openxmlformats.org/officeDocument/2006/relationships" id="263" r:id="Rdc344c271d114ba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8682ab8d1e4244" /><Relationship Type="http://schemas.openxmlformats.org/officeDocument/2006/relationships/slideMaster" Target="/ppt/slideMasters/slideMaster1.xml" Id="R3dfc47f93fb64907" /><Relationship Type="http://schemas.openxmlformats.org/officeDocument/2006/relationships/notesMaster" Target="/ppt/notesMasters/notesMaster1.xml" Id="Rdcc10d8ba4e24028" /><Relationship Type="http://schemas.openxmlformats.org/officeDocument/2006/relationships/presProps" Target="/ppt/presProps.xml" Id="Re24a5a3f98494190" /><Relationship Type="http://schemas.openxmlformats.org/officeDocument/2006/relationships/tableStyles" Target="/ppt/tableStyles.xml" Id="R61ab73346ded46a0" /><Relationship Type="http://schemas.openxmlformats.org/officeDocument/2006/relationships/slide" Target="/ppt/slides/slide1.xml" Id="Rd3cf4961c31f4f40" /><Relationship Type="http://schemas.openxmlformats.org/officeDocument/2006/relationships/slide" Target="/ppt/slides/slide2.xml" Id="R7d6347114e5f4caf" /><Relationship Type="http://schemas.openxmlformats.org/officeDocument/2006/relationships/slide" Target="/ppt/slides/slide3.xml" Id="Rfeb8939e699446ab" /><Relationship Type="http://schemas.openxmlformats.org/officeDocument/2006/relationships/slide" Target="/ppt/slides/slide4.xml" Id="Re8dba84437ed46b5" /><Relationship Type="http://schemas.openxmlformats.org/officeDocument/2006/relationships/slide" Target="/ppt/slides/slide5.xml" Id="R7352cfc4d9974a5b" /><Relationship Type="http://schemas.openxmlformats.org/officeDocument/2006/relationships/slide" Target="/ppt/slides/slide6.xml" Id="R09023fb0c8f24337" /><Relationship Type="http://schemas.openxmlformats.org/officeDocument/2006/relationships/slide" Target="/ppt/slides/slide7.xml" Id="R6a1b05765c104538" /><Relationship Type="http://schemas.openxmlformats.org/officeDocument/2006/relationships/slide" Target="/ppt/slides/slide8.xml" Id="Rdc344c271d114b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27ad77bf8c46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aaaa048fbb4818" /><Relationship Type="http://schemas.openxmlformats.org/officeDocument/2006/relationships/notesMaster" Target="/ppt/notesMasters/notesMaster1.xml" Id="R07ec49df337440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35e3ae6e0c43ff" /><Relationship Type="http://schemas.openxmlformats.org/officeDocument/2006/relationships/notesMaster" Target="/ppt/notesMasters/notesMaster1.xml" Id="R96d5c365d48445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d0dfe83faf446a" /><Relationship Type="http://schemas.openxmlformats.org/officeDocument/2006/relationships/notesMaster" Target="/ppt/notesMasters/notesMaster1.xml" Id="R4e5826ae66e148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7c7ddb48944a2b" /><Relationship Type="http://schemas.openxmlformats.org/officeDocument/2006/relationships/notesMaster" Target="/ppt/notesMasters/notesMaster1.xml" Id="Ra04304a1f6ee48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19fd6951be4c75" /><Relationship Type="http://schemas.openxmlformats.org/officeDocument/2006/relationships/notesMaster" Target="/ppt/notesMasters/notesMaster1.xml" Id="R54d3a4e8b73a47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f14e5b5f4d444f" /><Relationship Type="http://schemas.openxmlformats.org/officeDocument/2006/relationships/notesMaster" Target="/ppt/notesMasters/notesMaster1.xml" Id="Rae3247388b2e4d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51bc6e08384beb" /><Relationship Type="http://schemas.openxmlformats.org/officeDocument/2006/relationships/notesMaster" Target="/ppt/notesMasters/notesMaster1.xml" Id="R3da898ec5f184d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d7b1b898b34f68" /><Relationship Type="http://schemas.openxmlformats.org/officeDocument/2006/relationships/notesMaster" Target="/ppt/notesMasters/notesMaster1.xml" Id="R83f826b5e5604b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32370609f144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feca6e0fad4076" /><Relationship Type="http://schemas.openxmlformats.org/officeDocument/2006/relationships/slideLayout" Target="/ppt/slideLayouts/slideLayout1.xml" Id="Rdf3027c661ff4d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3027c661ff4d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1e3f82dc24f7d" /><Relationship Type="http://schemas.openxmlformats.org/officeDocument/2006/relationships/image" Target="/ppt/media/image.png" Id="R2df0fa78dc7a48d7" /><Relationship Type="http://schemas.openxmlformats.org/officeDocument/2006/relationships/image" Target="/ppt/media/image.svg" Id="R601501d6e6de4a03" /><Relationship Type="http://schemas.openxmlformats.org/officeDocument/2006/relationships/notesSlide" Target="/ppt/notesSlides/notesSlide1.xml" Id="R73d54711cab04b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1335ccc3d4dce" /><Relationship Type="http://schemas.openxmlformats.org/officeDocument/2006/relationships/notesSlide" Target="/ppt/notesSlides/notesSlide2.xml" Id="Ra88de00ec7d145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f1df5751548a0" /><Relationship Type="http://schemas.openxmlformats.org/officeDocument/2006/relationships/image" Target="/ppt/media/image2.png" Id="Rb269c6a0cd464b34" /><Relationship Type="http://schemas.openxmlformats.org/officeDocument/2006/relationships/image" Target="/ppt/media/image2.svg" Id="R7af18a1ee7904739" /><Relationship Type="http://schemas.openxmlformats.org/officeDocument/2006/relationships/notesSlide" Target="/ppt/notesSlides/notesSlide3.xml" Id="Ra23763b52d264c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99ea4096c4399" /><Relationship Type="http://schemas.openxmlformats.org/officeDocument/2006/relationships/notesSlide" Target="/ppt/notesSlides/notesSlide4.xml" Id="R4b00e558a4f844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4dcfaa0b74fb0" /><Relationship Type="http://schemas.openxmlformats.org/officeDocument/2006/relationships/notesSlide" Target="/ppt/notesSlides/notesSlide5.xml" Id="Rd9ff974ae1ea4d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7d70c15d745b5" /><Relationship Type="http://schemas.openxmlformats.org/officeDocument/2006/relationships/notesSlide" Target="/ppt/notesSlides/notesSlide6.xml" Id="R0882c7c820ee42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9e219a9084296" /><Relationship Type="http://schemas.openxmlformats.org/officeDocument/2006/relationships/image" Target="/ppt/media/image3.png" Id="Rd166c8331c3740c9" /><Relationship Type="http://schemas.openxmlformats.org/officeDocument/2006/relationships/image" Target="/ppt/media/image3.svg" Id="R89df9c6165054681" /><Relationship Type="http://schemas.openxmlformats.org/officeDocument/2006/relationships/notesSlide" Target="/ppt/notesSlides/notesSlide7.xml" Id="R3ff7b4e31be740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eec2a2e5a44cc" /><Relationship Type="http://schemas.openxmlformats.org/officeDocument/2006/relationships/notesSlide" Target="/ppt/notesSlides/notesSlide8.xml" Id="Reb3caa494309446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2F9A28-AECC-4B27-B4B6-4618CB1C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00067-053D-4B90-8994-C9396628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8615A-4A66-4AC0-B3B9-D0B643D4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51C6B-0DC8-4D49-938F-3C3EAF8F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D4DB6-7E76-4046-81D2-FD53F70F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CC1C3-983F-4FCC-ADDD-254BB627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2E94C-1756-429A-A4D1-B940FAD6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Anomaly Rescue Mission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FD669B-654F-48B4-B4AF-70D4A33B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0fa78dc7a48d7">
            <a:extLst>
              <a:ext uri="{96DAC541-7B7A-43D3-8B79-37D633B846F1}">
                <asvg:svgBlip xmlns:asvg="http://schemas.microsoft.com/office/drawing/2016/SVG/main" r:embed="R601501d6e6de4a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3277F-6ECB-4DC6-91A8-CF1A023F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C71D5B-9148-4E02-86D9-1A577DA5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F28705-4812-4CC7-86FA-76BEE20E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20D770-56FD-42E3-B862-ACBC2356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Anomalies are not automatically errors; they are tests of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method, theory, and judgement.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FB311B-2BA8-4179-91F1-5634AC4C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F56FA1-AC30-4923-ABEA-007D1991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53008-3AE0-460E-97BC-AB72F959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2DFA53-C1EA-414C-8496-562E36D6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30-40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5185700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46788B-FCFA-441E-9F0C-F7138641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3A5BD-DFC5-4A51-8DBE-0BF10243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0F8D7-9866-4011-BA0E-F50B7D3F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BFDA4-6946-4553-839E-85BFD44A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0F3C2-DA64-405B-A927-C5FA6274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9E4B2E-ABED-4BC1-B688-8694D580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EF4AA-44A5-40FA-B299-7D9D439E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DC8DF3-18B4-4B12-A3CD-41AA47E8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89A73-E00F-4438-95CF-B883DDBE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D22FBD-E2BF-47C3-89A6-13996069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787D21-E4A8-4B94-95CA-70A6D7EB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11235F-5BB4-424E-BF12-3D5FAE48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practice reasoning about anomalous evidence in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scientific inquiry.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Anomalies are not automatically errors; they are tests of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method, theory, and judgement.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CD9F6B-3FD6-48A4-B848-BE3BD7E2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9AC5F-6B72-4366-9676-BC4AEE88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2BD486-ADEA-44B7-BE27-CF449FB6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B3344E-ECDC-4597-B183-77460829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Small fictional dataset with one outlier or anomalous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Decision cards: measurement error, uncontrolled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variable, new phenomenon, repeat trial, revise model.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Anomaly decision board: discard, repeat, investigate,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revise model.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Evidence-needed cards: check instrument, repeat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measurement, inspect conditions, compare theory.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ACFC88-2FEA-4782-AE0A-02E4171A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4965048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3A1F75-6AD0-4FAF-8F3D-4C64E78B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0F169-AF27-4A6A-953F-D6CB0D6E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938F9-5828-47AF-97DC-C539F8FC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32B20-D214-4481-8FF1-2B88B7F8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C3AA2-F06A-46C0-A150-EA85C1AE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D100F-E871-4EAF-A6B0-E86694D6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C1803-1A82-4960-BB4A-7530CEB5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B525AD-6895-42BB-A5E6-85FF18F4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69c6a0cd464b34">
            <a:extLst>
              <a:ext uri="{96DAC541-7B7A-43D3-8B79-37D633B846F1}">
                <asvg:svgBlip xmlns:asvg="http://schemas.microsoft.com/office/drawing/2016/SVG/main" r:embed="R7af18a1ee79047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2CAE2-2E94-43A9-929C-060FFB40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694F74-FA44-4F1B-9FFA-8A7082E5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1DBEC6-7546-49A8-9B4C-464BF733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0654FB-0ABE-4D35-9F14-192FB223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Anomaly Rescue Mission Stimulus A: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1: Plant growth mostly increases with light exposure,...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Anomaly Rescue Mission Stimulus B: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2: Reaction time improves with practice, except one trial...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2AABF6-A884-4AAA-B01B-7ED5A765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71184A-6932-4E91-842E-CDD534D6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652615-263A-4574-8439-99DA36C5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484B30-2365-40BA-881B-9B9E1645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Anomaly Rescue Mission Stimulus A, what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Anomaly Rescue Mission Stimulus A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6547932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8F05AB-815A-48E6-95BC-7B55A0A2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425E0-68C6-4BC0-967D-45483F9F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BE329-B7F4-4DA7-AC02-FA5810B9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752E3-96EC-4171-AE34-4F4E00ED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695B4-924F-4E9C-8798-A6E0B519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14F13-60F5-4A94-9DF7-5D4DCF55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2481C-028E-4131-A881-476F61B6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52F937-1D12-4953-A333-0B38B36B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0BDB9E-2D59-4CF5-BB0D-F9798461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F12A4-9890-4754-A0FF-E3E03E5B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9E8FD4-7E11-459D-9AD2-9B5E1091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9EAB1-BB60-44FD-8E56-27E9E4E9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Give groups a simple model and a dataset that mostly fits it.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Students identify the anomalous result and list possible explanations.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Groups choose a response: discard, repeat, investigate, or revise the model.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Groups defend what evidence would justify their response.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how scientists should treat results that do not fit expectation.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581577-020E-461C-9D4B-476C2D35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Natural...</a:t>
            </a:r>
          </a:p>
        </p:txBody>
      </p:sp>
    </p:spTree>
    <p:extLst>
      <p:ext uri="{BB962C8B-B14F-4D97-AF65-F5344CB8AC3E}">
        <p14:creationId xmlns:p14="http://schemas.microsoft.com/office/powerpoint/2010/main" val="166422110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0FC959-1594-4BBC-88D3-F31B526F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7F1BB-33A9-4305-B2CA-CE8580CA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6471F-D567-410D-91CF-BC8E6599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83A70-A4B6-4470-BC10-D39A3E2A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74B6D-121B-42D8-A096-3DC7B370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AB822-C61F-46D0-8438-89950490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4E8C3C-F3C7-4C38-A2B8-F153B3F7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8B563-7902-4E9F-89A2-77B24351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A3EFD5-B6E8-4217-9094-CB9F5488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FAEEF5-64F7-4B48-B496-8164F208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4BD80A-AC9F-4C0C-939D-F580E7C1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A06CC-B58A-40CA-AB38-18EDA5BD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20DB4D-AD1D-445E-8986-A37B11F7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749003-7C41-41E4-8885-4789F3AC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4F1A7-F702-45E2-A922-2B84B663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870162-0136-42E8-BAD1-EBCFD685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502494-92E2-4354-AB43-3BE77CF9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B5ED65-AEB6-44F3-8DB6-C6F7D170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E3E4DB-B86B-4769-AAD2-7DF8CCB9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0FE232-B451-41C3-AA23-5FF3A015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08F6C6-06F2-425D-8AB2-2E6F7864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B9DAF4-3CFE-4C82-A31C-556F92D0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24DD5E-6A05-4161-AF28-AA80CC9F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CA518A-E056-4A86-9F7D-C67B5070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28C4F7-4A80-434E-BD3A-69B95583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9B3D27-4C56-4BCB-872F-3AEB226E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4DCD4E-2F95-4B93-B6A2-9E33E0C4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62CA76-E027-4B07-ADCD-9BD0CE1A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207942591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4707AF-B023-4D90-88E6-7E809AEC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B7996-FD9D-4BED-AD66-575A274E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D661E-FD28-427F-A139-7B97824C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8D144-9DF5-4909-975C-089FD8BE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EC776-95F4-4196-B4C5-B39B0B3A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27DCC-6AD6-4BB4-94AE-549B7FE1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17169-338F-4657-8D7A-ABBB209E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C5CB5-2546-4DC3-AAAA-E65DD142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4BF9CE-133E-4868-B88F-FE8544E4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3A7C1-ECD2-4FFA-A02A-70A36794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CDF198-210C-4922-96AA-166BCEEC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116F50-F321-4F04-BA64-CB9073A2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When should anomalous evidence change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 theory?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can expectations help and hinder scientific judgement?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is the difference between ignoring an anomaly and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responsibly investigating it?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7876E1-8EBE-4CFE-BCC0-10B41368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25D41-5AA4-43D0-9CDC-360AABBD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672D8-7934-46D0-97CA-4275570F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3A2B9C-791C-44BB-8B82-5AC856FF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should anomalous evidence change a theory?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expectations shape interpretation of data?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makes an outlier scientifically important?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18515E-536F-4225-9EC8-E92449FE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46765430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43C9EE-73BF-42A9-A82C-5C4FCB70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D4AE2-7CF0-43F8-9D35-73F26BE4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2AF6C-52D4-4DB5-B1EA-A9ABC6D0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9DE902-DD11-471B-A7FF-7110B173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0F610-6EB9-417C-A9BE-B91F62EA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04491-E714-4978-970D-4C5D620D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901AB-0842-4121-8141-BEEBE3BE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27924-2C60-4D96-8763-C6F0817D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8851A-3090-46B3-85BC-F7F2F8C3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FFDF16-7225-4EA9-9D15-84C6803B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93AC20-FCD0-4708-BA47-ECE4D7B1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7C6490-7BF1-4659-8847-E3491B1D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We repeated the measurement before revising the model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because one point was not enough.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anomaly mattered because it appeared under a condition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the model had ignored.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B96B09-733B-4594-817D-8A0DABA8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07CBF3-B23E-4731-BB86-7D86A893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0C25FB-B2C3-4138-9FE3-FDE9C980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F56191-F816-44FC-8D3E-83B24FCE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write a cautious lab-note response to an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unexpected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Compare famous scientific anomalies with everyday data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cleaning.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6c8331c3740c9">
            <a:extLst>
              <a:ext uri="{96DAC541-7B7A-43D3-8B79-37D633B846F1}">
                <asvg:svgBlip xmlns:asvg="http://schemas.microsoft.com/office/drawing/2016/SVG/main" r:embed="R89df9c61650546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61226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7A351C-7005-4D80-B674-215CE056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137BF-89A7-4BD4-B2EB-E2099FC3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43DD1-0650-4749-9EE3-FD1B4905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9F54BC-FDD6-48EB-BDFF-CB677B94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03665-A7A6-4EA7-8F6A-7926B3A4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A5515-05DC-448C-A92C-4C970D27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540E9-D723-4DC3-A771-CD33F68F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768663-04B8-45F7-B53C-EF7826C1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07EFF-EE1C-4D80-AE56-25F31785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5A485-24E4-4404-999E-8BDAD88E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3BAC14-FBD5-4667-B0BF-91AA0D2A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77A64E-D77D-4999-9D8D-88094DDA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dataset graph with one anomalous point and competing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explanation labels.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35AF01-11F0-489D-A301-26A6747C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4A480-6C00-4A69-856C-E4B46716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F431BE-E3FF-432D-91FC-4C8EFF29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B74C96-C540-4625-BD87-AC8EA9F7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558BFE-65B7-46C2-BADC-0E75867B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63A5F1-3947-4C32-8655-04F0D429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DD6C75-33EE-40EE-A0D7-A5261CB2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9B8BC4-5AE8-4F05-B88B-C76BB431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Model Failure Challenge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Measurement Changes Phenomenon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Peer Review Filter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5D4B1F-320C-4D16-9D77-F2DCDE95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5191281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2026-06-20T10:31:40.0620000Z</dcterms:created>
  <dcterms:modified xsi:type="dcterms:W3CDTF">2026-06-20T10:31:40.0620000Z</dcterms:modified>
</coreProperties>
</file>