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eed64f7d4674b24" /><Relationship Type="http://schemas.openxmlformats.org/officeDocument/2006/relationships/extended-properties" Target="/docProps/app.xml" Id="R19ff523141364893" /><Relationship Type="http://schemas.openxmlformats.org/officeDocument/2006/relationships/officeDocument" Target="/ppt/presentation.xml" Id="Reff8d55185d841c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330f40bce304c43"/>
  </p:sldMasterIdLst>
  <p:notesMasterIdLst>
    <p:notesMasterId xmlns:r="http://schemas.openxmlformats.org/officeDocument/2006/relationships" r:id="Rddfb77c4d1534f4f"/>
  </p:notesMasterIdLst>
  <p:sldIdLst>
    <p:sldId xmlns:r="http://schemas.openxmlformats.org/officeDocument/2006/relationships" id="256" r:id="R9666209e879e4a54"/>
    <p:sldId xmlns:r="http://schemas.openxmlformats.org/officeDocument/2006/relationships" id="257" r:id="Rf37d963f64c64ccf"/>
    <p:sldId xmlns:r="http://schemas.openxmlformats.org/officeDocument/2006/relationships" id="258" r:id="R425b58fa4a7a48de"/>
    <p:sldId xmlns:r="http://schemas.openxmlformats.org/officeDocument/2006/relationships" id="259" r:id="R6455ef490f9e4179"/>
    <p:sldId xmlns:r="http://schemas.openxmlformats.org/officeDocument/2006/relationships" id="260" r:id="R54da791bceab42c2"/>
    <p:sldId xmlns:r="http://schemas.openxmlformats.org/officeDocument/2006/relationships" id="261" r:id="R42c3766a66d848b8"/>
    <p:sldId xmlns:r="http://schemas.openxmlformats.org/officeDocument/2006/relationships" id="262" r:id="Ra0b4c51b88724179"/>
    <p:sldId xmlns:r="http://schemas.openxmlformats.org/officeDocument/2006/relationships" id="263" r:id="R300daeb124454151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7d93404789f4caa" /><Relationship Type="http://schemas.openxmlformats.org/officeDocument/2006/relationships/slideMaster" Target="/ppt/slideMasters/slideMaster1.xml" Id="R6330f40bce304c43" /><Relationship Type="http://schemas.openxmlformats.org/officeDocument/2006/relationships/notesMaster" Target="/ppt/notesMasters/notesMaster1.xml" Id="Rddfb77c4d1534f4f" /><Relationship Type="http://schemas.openxmlformats.org/officeDocument/2006/relationships/presProps" Target="/ppt/presProps.xml" Id="Re015fc63b5d14ab2" /><Relationship Type="http://schemas.openxmlformats.org/officeDocument/2006/relationships/tableStyles" Target="/ppt/tableStyles.xml" Id="Re44f889a3db04a8f" /><Relationship Type="http://schemas.openxmlformats.org/officeDocument/2006/relationships/slide" Target="/ppt/slides/slide1.xml" Id="R9666209e879e4a54" /><Relationship Type="http://schemas.openxmlformats.org/officeDocument/2006/relationships/slide" Target="/ppt/slides/slide2.xml" Id="Rf37d963f64c64ccf" /><Relationship Type="http://schemas.openxmlformats.org/officeDocument/2006/relationships/slide" Target="/ppt/slides/slide3.xml" Id="R425b58fa4a7a48de" /><Relationship Type="http://schemas.openxmlformats.org/officeDocument/2006/relationships/slide" Target="/ppt/slides/slide4.xml" Id="R6455ef490f9e4179" /><Relationship Type="http://schemas.openxmlformats.org/officeDocument/2006/relationships/slide" Target="/ppt/slides/slide5.xml" Id="R54da791bceab42c2" /><Relationship Type="http://schemas.openxmlformats.org/officeDocument/2006/relationships/slide" Target="/ppt/slides/slide6.xml" Id="R42c3766a66d848b8" /><Relationship Type="http://schemas.openxmlformats.org/officeDocument/2006/relationships/slide" Target="/ppt/slides/slide7.xml" Id="Ra0b4c51b88724179" /><Relationship Type="http://schemas.openxmlformats.org/officeDocument/2006/relationships/slide" Target="/ppt/slides/slide8.xml" Id="R300daeb12445415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ff76f5c1d3742a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fceb38bb1634b09" /><Relationship Type="http://schemas.openxmlformats.org/officeDocument/2006/relationships/notesMaster" Target="/ppt/notesMasters/notesMaster1.xml" Id="R25ccd64dc0e0470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bd131197d824cfc" /><Relationship Type="http://schemas.openxmlformats.org/officeDocument/2006/relationships/notesMaster" Target="/ppt/notesMasters/notesMaster1.xml" Id="Ra12b4b3862f4472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e3f7456bfc44646" /><Relationship Type="http://schemas.openxmlformats.org/officeDocument/2006/relationships/notesMaster" Target="/ppt/notesMasters/notesMaster1.xml" Id="R73f6ccfa5a0c465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bc265fd170f4a9b" /><Relationship Type="http://schemas.openxmlformats.org/officeDocument/2006/relationships/notesMaster" Target="/ppt/notesMasters/notesMaster1.xml" Id="Rc59b5e82b982485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88492d9c4b540ad" /><Relationship Type="http://schemas.openxmlformats.org/officeDocument/2006/relationships/notesMaster" Target="/ppt/notesMasters/notesMaster1.xml" Id="R7d08ffca66624a8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9c0e6bb91054d88" /><Relationship Type="http://schemas.openxmlformats.org/officeDocument/2006/relationships/notesMaster" Target="/ppt/notesMasters/notesMaster1.xml" Id="Rc9d1c5da304d4f0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65e6cd0044d4b78" /><Relationship Type="http://schemas.openxmlformats.org/officeDocument/2006/relationships/notesMaster" Target="/ppt/notesMasters/notesMaster1.xml" Id="R54366e01717d43d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4792151833846a1" /><Relationship Type="http://schemas.openxmlformats.org/officeDocument/2006/relationships/notesMaster" Target="/ppt/notesMasters/notesMaster1.xml" Id="R9ceab099bbd5404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058cb6d628e4ac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82c481cc1124746" /><Relationship Type="http://schemas.openxmlformats.org/officeDocument/2006/relationships/slideLayout" Target="/ppt/slideLayouts/slideLayout1.xml" Id="R8ed8c9fb0dc646a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ed8c9fb0dc646a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d6493067b147f0" /><Relationship Type="http://schemas.openxmlformats.org/officeDocument/2006/relationships/image" Target="/ppt/media/image.png" Id="R47aafa8f7c2746f6" /><Relationship Type="http://schemas.openxmlformats.org/officeDocument/2006/relationships/image" Target="/ppt/media/image.svg" Id="R7654737c4ecd4ebf" /><Relationship Type="http://schemas.openxmlformats.org/officeDocument/2006/relationships/notesSlide" Target="/ppt/notesSlides/notesSlide1.xml" Id="R82e2f63dd956420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fbf512c26147d3" /><Relationship Type="http://schemas.openxmlformats.org/officeDocument/2006/relationships/notesSlide" Target="/ppt/notesSlides/notesSlide2.xml" Id="R08e1ebb20e104b0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5d2c92ef4c4ff4" /><Relationship Type="http://schemas.openxmlformats.org/officeDocument/2006/relationships/image" Target="/ppt/media/image2.png" Id="R52b071e7ad3d4ffb" /><Relationship Type="http://schemas.openxmlformats.org/officeDocument/2006/relationships/image" Target="/ppt/media/image2.svg" Id="Rd00b8361b01b431c" /><Relationship Type="http://schemas.openxmlformats.org/officeDocument/2006/relationships/notesSlide" Target="/ppt/notesSlides/notesSlide3.xml" Id="R55c80810b8b14e5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a03ac02cb84271" /><Relationship Type="http://schemas.openxmlformats.org/officeDocument/2006/relationships/notesSlide" Target="/ppt/notesSlides/notesSlide4.xml" Id="Reaff09c6d9a44c0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4b18ac08284739" /><Relationship Type="http://schemas.openxmlformats.org/officeDocument/2006/relationships/notesSlide" Target="/ppt/notesSlides/notesSlide5.xml" Id="Rcc480081b23f401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5369ccb1f04e2d" /><Relationship Type="http://schemas.openxmlformats.org/officeDocument/2006/relationships/notesSlide" Target="/ppt/notesSlides/notesSlide6.xml" Id="Rcd5adcd9c3c1408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98bb0942ad40bf" /><Relationship Type="http://schemas.openxmlformats.org/officeDocument/2006/relationships/image" Target="/ppt/media/image3.png" Id="R8eed23e56de24455" /><Relationship Type="http://schemas.openxmlformats.org/officeDocument/2006/relationships/image" Target="/ppt/media/image3.svg" Id="R1f067393ac7e4a0e" /><Relationship Type="http://schemas.openxmlformats.org/officeDocument/2006/relationships/notesSlide" Target="/ppt/notesSlides/notesSlide7.xml" Id="R4c482e41fdae427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67fdc7e3e8498e" /><Relationship Type="http://schemas.openxmlformats.org/officeDocument/2006/relationships/notesSlide" Target="/ppt/notesSlides/notesSlide8.xml" Id="R4d52fc3b7b194f30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14E95F4-1531-4DEB-91BE-209DFB56B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C32543-4484-46CA-9EC4-52E264D45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5AFAF6-5E7D-4376-B2C0-397145D5C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368B86-75FD-4FA0-B4C6-FCF934FE1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C16CA3-14E0-4FE0-899B-7F3A8DD63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1/8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6E94DC-CB02-47E1-8D6E-416617244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Knowledge and the Knower  |  15-20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383F9D9-6A79-47CF-9D71-544EF89B7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47750"/>
            <a:ext cx="6858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43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Eyewitness Trap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6C888DF-5674-42E1-A5B9-BB4BD16E3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8382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Student-facing slide deck draft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7aafa8f7c2746f6">
            <a:extLst>
              <a:ext uri="{96DAC541-7B7A-43D3-8B79-37D633B846F1}">
                <asvg:svgBlip xmlns:asvg="http://schemas.microsoft.com/office/drawing/2016/SVG/main" r:embed="R7654737c4ecd4ebf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953375" y="1028700"/>
            <a:ext cx="3143250" cy="1952625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7AA7416-DD00-4245-A9C6-B332F24A6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0"/>
            <a:ext cx="61912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A7CAD57-7D57-4100-A579-AC15CEEEE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0"/>
            <a:ext cx="762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7D386F3-083B-445F-A0EF-367255ADF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352800"/>
            <a:ext cx="5734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Big Idea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7DADE2C-1A52-4611-BA5C-86DE86918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752850"/>
            <a:ext cx="56959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9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Memory is reconstructive, not photographic.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3E7CD00-3518-4CD0-B095-E17E9FDD0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3143250"/>
            <a:ext cx="38100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A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42CEF46-222B-4F06-8F85-896B0F175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3143250"/>
            <a:ext cx="762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E315231-5C6E-41ED-9003-541614707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4275" y="3352800"/>
            <a:ext cx="3352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Use In Class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8708578-3964-46B3-93D6-829A27400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4275" y="3752850"/>
            <a:ext cx="33147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Time: 15-20 min</a:t>
            </a:r>
          </a:p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Difficulty: Easy</a:t>
            </a:r>
          </a:p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Resource: free now</a:t>
            </a:r>
          </a:p>
        </p:txBody>
      </p:sp>
    </p:spTree>
    <p:extLst>
      <p:ext uri="{BB962C8B-B14F-4D97-AF65-F5344CB8AC3E}">
        <p14:creationId xmlns:p14="http://schemas.microsoft.com/office/powerpoint/2010/main" val="1141280594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6425456-FE6F-4A63-975F-BFE25B53D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6B43A4-6F62-4C9C-91A3-7A914D817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EF44D8-281E-4FC4-938A-8E22E34F2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99C077-D658-4516-A00B-AB140EE43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3753EC-8632-4761-B764-7107E80A0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2/8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D86052-6D8D-486C-8E36-72E06FD00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Knowledge and the Knower  |  15-20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7074CF-624A-4318-B427-AD82C6EB3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38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Purpose &amp; Setup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3C31D6-A73C-450F-A1AA-14D085047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Use this before students move into TOK analysis.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0E4CF59-5010-4FFE-9B21-A6484F993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51435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E479115-FC4C-4735-B835-2FFA3035E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762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93B8EE4-E5F5-4724-A4E9-245788067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62175"/>
            <a:ext cx="4686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Learning Focus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3DC03B0-D62B-44F5-80E8-8A6C092F8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62225"/>
            <a:ext cx="4648200" cy="2228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Students see that memory is often reconstruction rather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than playback.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Memory is reconstructive, not photographic.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62AE550-E0D9-4761-AC8A-9896B2986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952625"/>
            <a:ext cx="4905375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645B61B-A13D-43AD-BF15-A7981954A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952625"/>
            <a:ext cx="762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E7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D29ACB9-4EC2-411F-9FCF-0BB1F9B13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162175"/>
            <a:ext cx="44481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Materials &amp; Run Kit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72E8D33-41A8-44CF-978A-CE52B56FB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562225"/>
            <a:ext cx="4410075" cy="2228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A busy classroom image or short silent video.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Printable student worksheet with observation,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inference, evidence, and confidence columns.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Teacher notes with setup checklist, sample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facilitation language, misconceptions, and assessment...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917C8BA-B33B-4542-AAAA-C35F3DBC9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10382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EF"/>
          </a:solidFill>
          <a:ln xmlns:a="http://schemas.openxmlformats.org/drawingml/2006/main" w="9525">
            <a:solidFill>
              <a:srgbClr val="2F865F"/>
            </a:solidFill>
            <a:prstDash val="solid"/>
          </a:ln>
        </p:spPr>
        <p:txBody>
          <a:bodyPr xmlns:a="http://schemas.openxmlformats.org/drawingml/2006/main" lIns="171450" tIns="95250" rIns="171450" bIns="7620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Teacher move: ask for a private first judgement before discussion so students can notice how knowledge is formed, revised, and justified.</a:t>
            </a:r>
          </a:p>
        </p:txBody>
      </p:sp>
    </p:spTree>
    <p:extLst>
      <p:ext uri="{BB962C8B-B14F-4D97-AF65-F5344CB8AC3E}">
        <p14:creationId xmlns:p14="http://schemas.microsoft.com/office/powerpoint/2010/main" val="1964861415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C26F1FE-7764-4C61-90D1-3C82D489B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BDF485-D620-44FB-B638-C57D3BB12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FB992C-BE01-44F1-BA6F-35EA642CE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AB9101-D4ED-4888-8DF6-FAC0B93F5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CA8C64-F9DB-42FB-B429-0BF6DB307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3/8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60D589-E4B3-4AA7-86A4-5027AFFC4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Knowledge and the Knower  |  15-20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67B8062-67B7-47AC-9205-E6966269A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38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Use The Actual Stimulus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5B7EF0-5DC9-43FD-9960-AEC166624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Students inspect this before abstract TOK language.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2b071e7ad3d4ffb">
            <a:extLst>
              <a:ext uri="{96DAC541-7B7A-43D3-8B79-37D633B846F1}">
                <asvg:svgBlip xmlns:asvg="http://schemas.microsoft.com/office/drawing/2016/SVG/main" r:embed="Rd00b8361b01b431c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85800" y="1762125"/>
            <a:ext cx="5143500" cy="358140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E809E13-E7EA-4D07-B351-4A0FF035F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90700"/>
            <a:ext cx="4905375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6362A85-AEE9-4CDF-9D7B-67E8189D1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90700"/>
            <a:ext cx="7620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5D0382F-F6DE-4345-83B6-1FED7EFE4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000250"/>
            <a:ext cx="44481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Stimulus Packet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EB80987-091F-4264-9C9A-B6445229F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400300"/>
            <a:ext cx="441007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Eyewitness Trap Stimulus A: Student-facing stimulus 1: A</a:t>
            </a:r>
          </a:p>
          <a:p xmlns:a="http://schemas.openxmlformats.org/drawingml/2006/main">
            <a:pPr algn="l">
              <a:defRPr sz="12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busy classroom image followed by questions about colours,...</a:t>
            </a:r>
          </a:p>
          <a:p xmlns:a="http://schemas.openxmlformats.org/drawingml/2006/main">
            <a:pPr algn="l">
              <a:defRPr sz="12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Eyewitness Trap Stimulus B: Student-facing stimulus 2: A</a:t>
            </a:r>
          </a:p>
          <a:p xmlns:a="http://schemas.openxmlformats.org/drawingml/2006/main">
            <a:pPr algn="l">
              <a:defRPr sz="12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short silent hallway scene with one misleading follow-up...</a:t>
            </a:r>
          </a:p>
          <a:p xmlns:a="http://schemas.openxmlformats.org/drawingml/2006/main">
            <a:pPr algn="l">
              <a:defRPr sz="12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Continue with teacher guidance.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1F9EAF7-AB92-47C0-942D-B72FBD0EE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733800"/>
            <a:ext cx="4905375" cy="1905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A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652A639-9BE0-4359-AABB-3F7CBBFF5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733800"/>
            <a:ext cx="76200" cy="1905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B96E000-D5B4-4C30-A499-CC2050E0E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943350"/>
            <a:ext cx="44481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Lesson Questions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40F293A-D618-4035-8781-DD1CBDA63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343400"/>
            <a:ext cx="4410075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After inspecting Eyewitness Trap Stimulus A, what is your</a:t>
            </a:r>
          </a:p>
          <a:p xmlns:a="http://schemas.openxmlformats.org/drawingml/2006/main">
            <a:pPr algn="l">
              <a:defRPr sz="12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first knowledge claim?</a:t>
            </a:r>
          </a:p>
          <a:p xmlns:a="http://schemas.openxmlformats.org/drawingml/2006/main">
            <a:pPr algn="l">
              <a:defRPr sz="12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Which exact detail from Eyewitness Trap Stimulus A did you</a:t>
            </a:r>
          </a:p>
          <a:p xmlns:a="http://schemas.openxmlformats.org/drawingml/2006/main">
            <a:pPr algn="l">
              <a:defRPr sz="12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use as evidence?</a:t>
            </a:r>
          </a:p>
          <a:p xmlns:a="http://schemas.openxmlformats.org/drawingml/2006/main">
            <a:pPr algn="l">
              <a:defRPr sz="12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What did you infer beyond the evidence?</a:t>
            </a:r>
          </a:p>
          <a:p xmlns:a="http://schemas.openxmlformats.org/drawingml/2006/main">
            <a:pPr algn="l">
              <a:defRPr sz="12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Continue with teacher guidance.</a:t>
            </a:r>
          </a:p>
        </p:txBody>
      </p:sp>
    </p:spTree>
    <p:extLst>
      <p:ext uri="{BB962C8B-B14F-4D97-AF65-F5344CB8AC3E}">
        <p14:creationId xmlns:p14="http://schemas.microsoft.com/office/powerpoint/2010/main" val="1281344761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0B1CD17-24C4-4854-83AA-F1811E368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FF89EF-0E96-4F9D-BF31-594027870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5CD49B-BF23-40FB-8FAC-8D6781D93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EC6097-48AC-4447-9A43-AFC40BD8B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D5768D3-47DD-4503-BAB9-CD482ABD6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4/8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311F24-4926-4CA6-A4FD-6C45646A7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Knowledge and the Knower  |  15-20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7CBF89-1C82-4079-8729-3F4D4EB51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38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Run The Activity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885024D-EA14-4A45-9992-8A817D942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Keep the experience concrete before naming the TOK issue.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568FD19-6F42-4582-97F3-2CF4B94A8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410825" cy="3667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EE9B0BF-F130-4DBC-B55E-6A8F429F7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76200" cy="3667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F5C7DC1-DD29-486F-8C62-4DB45C8B3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19300"/>
            <a:ext cx="99536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Student-Facing Procedure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E47FD44-BE44-49A6-B6F0-2AEA7DE18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19350"/>
            <a:ext cx="9915525" cy="2847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1. Show a busy image for 10 seconds.</a:t>
            </a:r>
          </a:p>
          <a:p xmlns:a="http://schemas.openxmlformats.org/drawingml/2006/main">
            <a:pPr algn="l">
              <a:defRPr sz="18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2. Remove it and ask factual questions: colours, objects, positions, text, number of</a:t>
            </a:r>
          </a:p>
          <a:p xmlns:a="http://schemas.openxmlformats.org/drawingml/2006/main">
            <a:pPr algn="l">
              <a:defRPr sz="18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 people.</a:t>
            </a:r>
          </a:p>
          <a:p xmlns:a="http://schemas.openxmlformats.org/drawingml/2006/main">
            <a:pPr algn="l">
              <a:defRPr sz="18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3. Ask students to rate their confidence in each answer.</a:t>
            </a:r>
          </a:p>
          <a:p xmlns:a="http://schemas.openxmlformats.org/drawingml/2006/main">
            <a:pPr algn="l">
              <a:defRPr sz="18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4. Reveal the image and compare accuracy with confidence.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823BED2-BCF5-4F34-BBF3-3A860CD65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9750"/>
            <a:ext cx="10382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Student task: Use the stimulus cards to complete the observation/inference/evidence/confidence grid, then answer one TOK knowledge question connected to Knowledg...</a:t>
            </a:r>
          </a:p>
        </p:txBody>
      </p:sp>
    </p:spTree>
    <p:extLst>
      <p:ext uri="{BB962C8B-B14F-4D97-AF65-F5344CB8AC3E}">
        <p14:creationId xmlns:p14="http://schemas.microsoft.com/office/powerpoint/2010/main" val="337465946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A068733-9A9F-4346-A732-DF5F51812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504098-B3E5-4E45-874C-3A56084BE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36FEAF-8A0D-4F9E-BE46-CAD3C2C08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A63F32-1F0B-4C7B-BDC0-172F27299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C612F3-195C-4D1C-9A07-E7655EB67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5/8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4F7888-FD3D-4E86-9C0B-29F4580B2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Knowledge and the Knower  |  15-20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54ACADC-27AC-4226-B2D8-24E422C22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38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Thinking Record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6B0E0A0-AF6A-4980-9E9F-F6689F1F5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Separate what students noticed from what they inferred.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A86DA31-E298-41F9-AE16-73314E0AD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238125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0B3986-8601-4312-B36F-B8F4D3A93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7620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6DE7006-8749-4FF9-90F9-A91E925C2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62175"/>
            <a:ext cx="1924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What I noticed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975AA58-0F91-41B5-8F22-9C266ABB2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62225"/>
            <a:ext cx="1885950" cy="1323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Observable details, data, words, actions, or results.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714A34D-B8E8-4439-B9AD-728D6844D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952625"/>
            <a:ext cx="238125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EF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E00B770-B799-43B7-9727-788235E25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952625"/>
            <a:ext cx="7620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8EA4C52-0404-49E9-93A4-E8A4AC0BF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162175"/>
            <a:ext cx="1924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What I inferred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DC30539-105A-4479-BA34-7000D692B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562225"/>
            <a:ext cx="1885950" cy="1323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The meaning or explanation I added.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07A76EA-8BEB-41A8-8E88-8FD710CD4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952625"/>
            <a:ext cx="238125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3D8E3ED-757C-4D2B-86CE-06BC75B8E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952625"/>
            <a:ext cx="7620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9843469-AD5D-445E-802E-650FED342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162175"/>
            <a:ext cx="1924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Evidence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811A23D-32BF-411A-8FCB-813F53B2E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562225"/>
            <a:ext cx="1885950" cy="1323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What supports my inference? What is missing?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7A5B294-2A8E-4C89-9228-50A86FB4C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1952625"/>
            <a:ext cx="238125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EF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FA5E287-9207-4CDA-AF77-50D2AEB4D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1952625"/>
            <a:ext cx="7620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C16C516-B92E-4531-8523-92DDF233C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162175"/>
            <a:ext cx="1924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Confidence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73F1491-2115-44CD-9929-0BBAE080A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562225"/>
            <a:ext cx="1885950" cy="1323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How sure am I, and why?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2685F12-CBD0-4A9F-9ADF-DA500B118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57700"/>
            <a:ext cx="10410825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9E3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CC95763-6929-4B0E-85FA-C0BD98A36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57700"/>
            <a:ext cx="762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E7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7AA44C0-7F04-4F19-A9D3-A02C34A6B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667250"/>
            <a:ext cx="99536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Pair Share Prompt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57B600E-510C-42B8-8805-2683ADA58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067300"/>
            <a:ext cx="99155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Compare one place where your first judgement changed. What caused the change: new evidence, another perspective, better language, or a revised method?</a:t>
            </a:r>
          </a:p>
        </p:txBody>
      </p:sp>
    </p:spTree>
    <p:extLst>
      <p:ext uri="{BB962C8B-B14F-4D97-AF65-F5344CB8AC3E}">
        <p14:creationId xmlns:p14="http://schemas.microsoft.com/office/powerpoint/2010/main" val="655599870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43D95D7-F751-4165-9FEE-3D84C2146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C217BB-1E49-48BB-9972-2B695C02C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EDB71E-8D9E-48D4-AAD6-5C010C4A1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2FA84D-7AC3-4A5C-BC4B-63D740C55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B61B6A-206B-489D-A71C-205B816EB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6/8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8F9B72-08B0-4432-A4FB-980CAE2B8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Knowledge and the Knower  |  15-20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A805DA5-1F04-4473-8C93-F0F464213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38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TOK Debrief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8F7BE95-8022-4BB6-8E8B-F36FA6C87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Move from the activity result to a knowledge question.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0ED107E-D766-40F0-8BF0-03B2C7165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57375"/>
            <a:ext cx="50482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E59D0C7-3065-4627-921E-FB8BE53E2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57375"/>
            <a:ext cx="7620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907B160-0075-481E-BB0C-C2880FE42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66925"/>
            <a:ext cx="4591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Debrief Questions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B6E3E4F-E34D-46B8-95D1-3AFEA26B8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66975"/>
            <a:ext cx="4552950" cy="2514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Knowledge question: When should memory be trusted as</a:t>
            </a:r>
          </a:p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evidence?</a:t>
            </a:r>
          </a:p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Why can sincere testimony still be unreliable?</a:t>
            </a:r>
          </a:p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How might leading questions change remembered knowledge?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1166CE9-6AFD-4609-8CF8-82A2E8EBD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1857375"/>
            <a:ext cx="50482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A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2EA1CEB-AAF2-419E-B115-283743C6C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1857375"/>
            <a:ext cx="7620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76FC7B1-E88A-4022-B076-C5AA1045F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2066925"/>
            <a:ext cx="4591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Knowledge Questions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F73E94C-C679-40A3-A1CD-33B6D22FA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2466975"/>
            <a:ext cx="4552950" cy="2514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When should memory be trusted as evidence?</a:t>
            </a:r>
          </a:p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Why can sincere testimony still be unreliable?</a:t>
            </a:r>
          </a:p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How might leading questions change remembered knowledge?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68A7F88-EE9F-4D68-9C69-497115D0D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76875"/>
            <a:ext cx="10382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Best discussion move: ask students to name a criterion for reliability, not just say “it depends.”</a:t>
            </a:r>
          </a:p>
        </p:txBody>
      </p:sp>
    </p:spTree>
    <p:extLst>
      <p:ext uri="{BB962C8B-B14F-4D97-AF65-F5344CB8AC3E}">
        <p14:creationId xmlns:p14="http://schemas.microsoft.com/office/powerpoint/2010/main" val="1017430814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CA9BCAC-27CD-4087-B413-521292E2B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54606D-87CA-4840-ADFD-C0C6E27DA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2E44AD-809A-46E7-BA7E-0471483B5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EE8DEB-F005-4380-AE84-73AD9964A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A45E52-4AAF-4A40-AEF9-0C722333F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7/8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AD7839-813F-45C6-9B0D-353FC5AEA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Knowledge and the Knower  |  15-20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1AB271-058C-4B05-A53E-C3B2B1536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38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Adapt &amp; Extend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143CFB6-2638-444D-91E9-1990AB890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Use the same core activity with different support levels.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15FFAAF-D792-4AF8-938C-DD60BF61C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4905375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B421E45-7A6F-43A4-A296-7F931B659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762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DCAA738-635C-4B16-866C-AC220F22A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00250"/>
            <a:ext cx="44481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Sample Student Output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B182CF2-383B-49FA-A879-E92AC0CBD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00300"/>
            <a:ext cx="441007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A student claim connected to Eyewitness Trap: "My first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judgement felt obvious, but my evidence was thinner than I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realised."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A revised claim that names a method, perspective, or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language choice that changed the result.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Continue with teacher guidance.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CB56E51-AECF-4EF6-926D-2AEE83CDA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38550"/>
            <a:ext cx="4905375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A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435EA4B-CDCA-4224-A545-C75DC4332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38550"/>
            <a:ext cx="762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EA0A94B-D79F-4E0D-989C-CD201ED72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48100"/>
            <a:ext cx="44481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Extensions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88F8ACC-1325-43C0-A7C1-64BEDB49F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248150"/>
            <a:ext cx="441007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Design a second version of the activity that tests the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same knowledge issue in another AOK.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Find a real-world example where the same knowledge problem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matters outside the classroom.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Continue with teacher guidance.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eed23e56de24455">
            <a:extLst>
              <a:ext uri="{96DAC541-7B7A-43D3-8B79-37D633B846F1}">
                <asvg:svgBlip xmlns:asvg="http://schemas.microsoft.com/office/drawing/2016/SVG/main" r:embed="R1f067393ac7e4a0e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334125" y="1790700"/>
            <a:ext cx="4667250" cy="3429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8045634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5254472-F613-44F0-9240-5C544342F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54B76C-C940-49C1-8E9A-97BB0A9C6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B33D10-1FC0-43DF-A677-5C60E5C4F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C78C3F-D61D-4EC0-89B1-8C4811C2E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FC119D-244E-49E0-BE42-E97E02DC9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8/8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D04CDE-6F1D-4B4C-B15A-964D6AB1F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Knowledge and the Knower  |  15-20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20E4E1-2AEC-4FC6-8B79-DA8127319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38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Exhibition &amp; Exit Ticket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1FC69DF-0D18-4ACC-B8AD-B417703B5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Turn the classroom moment into transferable TOK thinking.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66C1DAC-EFBE-423E-8CC0-F9E763FB7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57375"/>
            <a:ext cx="5143500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290F86F-DBB1-4476-8A9C-3281F6F1A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57375"/>
            <a:ext cx="76200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E7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A537804-1B08-4E83-B803-2AD89B044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66925"/>
            <a:ext cx="4686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Exhibition Object Idea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1033922-6DA3-4B1C-BA66-45AB14F96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66975"/>
            <a:ext cx="4648200" cy="942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A witness questionnaire and the original image.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9D397CF-8603-4248-9AF3-CF07051A3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857375"/>
            <a:ext cx="4905375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EF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8CD7A75-6EE4-4A2A-BB46-94E452EA7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857375"/>
            <a:ext cx="76200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6158348-19B6-4541-9E30-4F57F45FC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066925"/>
            <a:ext cx="44481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Exit Ticket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08B6D40-2A77-4D70-9F5F-2EA83F30C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466975"/>
            <a:ext cx="4410075" cy="942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Before this activity, I assumed...</a:t>
            </a:r>
          </a:p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The activity challenged that because...</a:t>
            </a:r>
          </a:p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A better knowledge question is...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D0DB65B-9289-4A7F-A310-12D279C51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0"/>
            <a:ext cx="1041082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A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F598D4C-9A39-42D4-A522-65F899DCB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0"/>
            <a:ext cx="762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94E0D69-A1EC-408B-BAB3-5262A5150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210050"/>
            <a:ext cx="99536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Related Activities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545B5C2-710F-420A-9197-3D8DB9DAB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610100"/>
            <a:ext cx="99155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Change Blindness Starter</a:t>
            </a:r>
          </a:p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Confidence Calibration Test</a:t>
            </a:r>
          </a:p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Personal Knowledge Map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FFA1F4E-3637-41DF-AFAB-27B2E5DDD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0"/>
            <a:ext cx="10382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Free while the library is being built. Designed for future premium teacher packs.</a:t>
            </a:r>
          </a:p>
        </p:txBody>
      </p:sp>
    </p:spTree>
    <p:extLst>
      <p:ext uri="{BB962C8B-B14F-4D97-AF65-F5344CB8AC3E}">
        <p14:creationId xmlns:p14="http://schemas.microsoft.com/office/powerpoint/2010/main" val="177010044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2026-06-20T10:31:33.9710000Z</dcterms:created>
  <dcterms:modified xsi:type="dcterms:W3CDTF">2026-06-20T10:31:33.9710000Z</dcterms:modified>
</coreProperties>
</file>