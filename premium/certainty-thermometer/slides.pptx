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8525b3085f48c4" /><Relationship Type="http://schemas.openxmlformats.org/officeDocument/2006/relationships/extended-properties" Target="/docProps/app.xml" Id="Rdae6c6407dd74468" /><Relationship Type="http://schemas.openxmlformats.org/officeDocument/2006/relationships/officeDocument" Target="/ppt/presentation.xml" Id="R078e1383bb3a49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2189053e044d0d"/>
  </p:sldMasterIdLst>
  <p:notesMasterIdLst>
    <p:notesMasterId xmlns:r="http://schemas.openxmlformats.org/officeDocument/2006/relationships" r:id="Rcc4f2d9d6e5840a2"/>
  </p:notesMasterIdLst>
  <p:sldIdLst>
    <p:sldId xmlns:r="http://schemas.openxmlformats.org/officeDocument/2006/relationships" id="256" r:id="R0f8e07f0fcd84f80"/>
    <p:sldId xmlns:r="http://schemas.openxmlformats.org/officeDocument/2006/relationships" id="257" r:id="R9d732a6cbbe14a4f"/>
    <p:sldId xmlns:r="http://schemas.openxmlformats.org/officeDocument/2006/relationships" id="258" r:id="R8e7122a0bdf4443b"/>
    <p:sldId xmlns:r="http://schemas.openxmlformats.org/officeDocument/2006/relationships" id="259" r:id="R9c739467c37240d2"/>
    <p:sldId xmlns:r="http://schemas.openxmlformats.org/officeDocument/2006/relationships" id="260" r:id="Rfe7019a3f1c44303"/>
    <p:sldId xmlns:r="http://schemas.openxmlformats.org/officeDocument/2006/relationships" id="261" r:id="Rf697dbb406464bbb"/>
    <p:sldId xmlns:r="http://schemas.openxmlformats.org/officeDocument/2006/relationships" id="262" r:id="Rf0e354d2bd3f4d3e"/>
    <p:sldId xmlns:r="http://schemas.openxmlformats.org/officeDocument/2006/relationships" id="263" r:id="Rd7655fc15b894d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ab3700638a451a" /><Relationship Type="http://schemas.openxmlformats.org/officeDocument/2006/relationships/slideMaster" Target="/ppt/slideMasters/slideMaster1.xml" Id="Rc32189053e044d0d" /><Relationship Type="http://schemas.openxmlformats.org/officeDocument/2006/relationships/notesMaster" Target="/ppt/notesMasters/notesMaster1.xml" Id="Rcc4f2d9d6e5840a2" /><Relationship Type="http://schemas.openxmlformats.org/officeDocument/2006/relationships/presProps" Target="/ppt/presProps.xml" Id="R9448b6a8808b4ffb" /><Relationship Type="http://schemas.openxmlformats.org/officeDocument/2006/relationships/tableStyles" Target="/ppt/tableStyles.xml" Id="Rec8bd296fdf34c7a" /><Relationship Type="http://schemas.openxmlformats.org/officeDocument/2006/relationships/slide" Target="/ppt/slides/slide1.xml" Id="R0f8e07f0fcd84f80" /><Relationship Type="http://schemas.openxmlformats.org/officeDocument/2006/relationships/slide" Target="/ppt/slides/slide2.xml" Id="R9d732a6cbbe14a4f" /><Relationship Type="http://schemas.openxmlformats.org/officeDocument/2006/relationships/slide" Target="/ppt/slides/slide3.xml" Id="R8e7122a0bdf4443b" /><Relationship Type="http://schemas.openxmlformats.org/officeDocument/2006/relationships/slide" Target="/ppt/slides/slide4.xml" Id="R9c739467c37240d2" /><Relationship Type="http://schemas.openxmlformats.org/officeDocument/2006/relationships/slide" Target="/ppt/slides/slide5.xml" Id="Rfe7019a3f1c44303" /><Relationship Type="http://schemas.openxmlformats.org/officeDocument/2006/relationships/slide" Target="/ppt/slides/slide6.xml" Id="Rf697dbb406464bbb" /><Relationship Type="http://schemas.openxmlformats.org/officeDocument/2006/relationships/slide" Target="/ppt/slides/slide7.xml" Id="Rf0e354d2bd3f4d3e" /><Relationship Type="http://schemas.openxmlformats.org/officeDocument/2006/relationships/slide" Target="/ppt/slides/slide8.xml" Id="Rd7655fc15b894d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797ab5d78e4a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61b52268d94820" /><Relationship Type="http://schemas.openxmlformats.org/officeDocument/2006/relationships/notesMaster" Target="/ppt/notesMasters/notesMaster1.xml" Id="Recb136ce269945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fc71b5f86c4f5b" /><Relationship Type="http://schemas.openxmlformats.org/officeDocument/2006/relationships/notesMaster" Target="/ppt/notesMasters/notesMaster1.xml" Id="Rd73544272a854c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4bffff8dfd4c04" /><Relationship Type="http://schemas.openxmlformats.org/officeDocument/2006/relationships/notesMaster" Target="/ppt/notesMasters/notesMaster1.xml" Id="R5cf6b8c18f7140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4693cdea5c43f9" /><Relationship Type="http://schemas.openxmlformats.org/officeDocument/2006/relationships/notesMaster" Target="/ppt/notesMasters/notesMaster1.xml" Id="R8b8a713f22854e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529a847d3e44ab" /><Relationship Type="http://schemas.openxmlformats.org/officeDocument/2006/relationships/notesMaster" Target="/ppt/notesMasters/notesMaster1.xml" Id="R26735990e13347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c6e71cd04e4c5c" /><Relationship Type="http://schemas.openxmlformats.org/officeDocument/2006/relationships/notesMaster" Target="/ppt/notesMasters/notesMaster1.xml" Id="Rc1ade77258ac4f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c7d1b259e74803" /><Relationship Type="http://schemas.openxmlformats.org/officeDocument/2006/relationships/notesMaster" Target="/ppt/notesMasters/notesMaster1.xml" Id="R2e81e23fbbe249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7a61de47544207" /><Relationship Type="http://schemas.openxmlformats.org/officeDocument/2006/relationships/notesMaster" Target="/ppt/notesMasters/notesMaster1.xml" Id="R44a3c762086946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403405c8d43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1bd83e761f44a0" /><Relationship Type="http://schemas.openxmlformats.org/officeDocument/2006/relationships/slideLayout" Target="/ppt/slideLayouts/slideLayout1.xml" Id="R82260d8ea04c4f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260d8ea04c4f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dae958ea347dc" /><Relationship Type="http://schemas.openxmlformats.org/officeDocument/2006/relationships/image" Target="/ppt/media/image.png" Id="R820e5df355b64bdd" /><Relationship Type="http://schemas.openxmlformats.org/officeDocument/2006/relationships/image" Target="/ppt/media/image.svg" Id="R5cadc7edbb9e4bac" /><Relationship Type="http://schemas.openxmlformats.org/officeDocument/2006/relationships/notesSlide" Target="/ppt/notesSlides/notesSlide1.xml" Id="Rfe3e0de3a41d45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88c99391849e6" /><Relationship Type="http://schemas.openxmlformats.org/officeDocument/2006/relationships/notesSlide" Target="/ppt/notesSlides/notesSlide2.xml" Id="Re8bd3b3fe4764f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ceff166514407" /><Relationship Type="http://schemas.openxmlformats.org/officeDocument/2006/relationships/image" Target="/ppt/media/image2.png" Id="R1450bda0f4a74285" /><Relationship Type="http://schemas.openxmlformats.org/officeDocument/2006/relationships/image" Target="/ppt/media/image2.svg" Id="R300a743b31f54a3c" /><Relationship Type="http://schemas.openxmlformats.org/officeDocument/2006/relationships/notesSlide" Target="/ppt/notesSlides/notesSlide3.xml" Id="Re900bcf8c50c41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43a66288e4572" /><Relationship Type="http://schemas.openxmlformats.org/officeDocument/2006/relationships/notesSlide" Target="/ppt/notesSlides/notesSlide4.xml" Id="Re25d5f71d6d94b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10a3c49694d29" /><Relationship Type="http://schemas.openxmlformats.org/officeDocument/2006/relationships/notesSlide" Target="/ppt/notesSlides/notesSlide5.xml" Id="R3681ab0d9d3744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710ed50174e03" /><Relationship Type="http://schemas.openxmlformats.org/officeDocument/2006/relationships/notesSlide" Target="/ppt/notesSlides/notesSlide6.xml" Id="Rc972b458ddf540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56caa87dd4c22" /><Relationship Type="http://schemas.openxmlformats.org/officeDocument/2006/relationships/image" Target="/ppt/media/image3.png" Id="Rd2bb646232dc4ff8" /><Relationship Type="http://schemas.openxmlformats.org/officeDocument/2006/relationships/image" Target="/ppt/media/image3.svg" Id="Rf2ef2c9cde764853" /><Relationship Type="http://schemas.openxmlformats.org/officeDocument/2006/relationships/notesSlide" Target="/ppt/notesSlides/notesSlide7.xml" Id="Rbf62fd68445048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b57535d824c83" /><Relationship Type="http://schemas.openxmlformats.org/officeDocument/2006/relationships/notesSlide" Target="/ppt/notesSlides/notesSlide8.xml" Id="R4e5a50d9e3db4e0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3BAE91-BBE8-409D-A78A-6B1A22CD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05220-1B0A-4F2C-83CC-F1420E96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022A6-F61B-4A75-AEE5-A57467B7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98B86-F7E5-4E04-91D9-6C4E64BF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8B317-3A74-4FF4-809E-A917620D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DC8DE-7B78-4E3B-A4C5-67267DDD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DA37B-36B0-4F5C-954D-F75FBF6D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Certainty Thermometer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48006-0A20-4509-BD56-410BA395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e5df355b64bdd">
            <a:extLst>
              <a:ext uri="{96DAC541-7B7A-43D3-8B79-37D633B846F1}">
                <asvg:svgBlip xmlns:asvg="http://schemas.microsoft.com/office/drawing/2016/SVG/main" r:embed="R5cadc7edbb9e4b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2A34E-9A91-41D2-B26A-4A7DC312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BAF2F-8905-4634-82FE-E8C98E3C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AA5C0-654B-4CDE-AAC1-B911CA70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24B2C-AC1D-4A51-B96A-E6B6D961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Certainty is not one simple measure; it depends on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evidence, method, context, and purpose.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A1567-374E-47FA-835F-39E14665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D5C9E-8D41-445F-9DA4-8BC87248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AF442-E7A4-4278-93B3-83EB82BA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A19F9-5360-43E7-885D-4EED8718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5927614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E0AED2-541F-4291-97A6-EB979C14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D3FDD-16DC-4159-A512-43A989D6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861A2-6184-46C7-9D55-B9A21482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82F51-63EE-415B-BD1A-D550DB75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3BA47-6E41-4906-8DD2-8FF2E6E0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ED354-5A9F-4275-AB29-8840A5D2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676F3-483B-43D9-8B6B-54FC94AC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827DC-B7F5-454F-B252-F7D6E61D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DB341-46B6-49DE-B4DB-C3B49591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4E1EC-D56C-4E59-B256-CB30E99D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4A426-4BC4-4952-A899-00474EAC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6D706-6029-4A0B-ADAB-BF047AB9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compare certainty across AOKs without reducing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all knowledge to one standard.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Certainty is not one simple measure; it depends on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evidence, method, context, and purpose.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06B94-6D9F-4614-B98F-2C1722C7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F9789-0C97-4D46-916A-B1D596FF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65076-56BB-41F5-9048-E9B8C6A7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79F4B-CF47-46E7-B692-6D2FFF8D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Claim cards from mathematics, arts, history, sciences,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everyday life.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Large certainty scale or thermometer poster.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Certainty thermometer poster from low confidence to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high certainty.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Revision log: original placement, criterion added,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revised placement, reason.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55309-664D-42AE-923F-88E880CA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0120464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F90AAB-3043-4C5C-B1F2-0D52562B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5A6AB-E260-4AEB-A32F-F302A05C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239A4-DC90-4073-810A-4B88689F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47048-2CDC-4B67-AAD4-A2A07278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422C2-E783-41CE-85B8-9888ECA7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852FA-4DE9-4176-85BA-4F70B878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7FBE7-0E71-4764-AD10-0913E9C8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51358-0AFF-4091-8FC7-ED48EB7E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0bda0f4a74285">
            <a:extLst>
              <a:ext uri="{96DAC541-7B7A-43D3-8B79-37D633B846F1}">
                <asvg:svgBlip xmlns:asvg="http://schemas.microsoft.com/office/drawing/2016/SVG/main" r:embed="R300a743b31f54a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7B697-43C9-498D-8497-74FB09A9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FF2D6-F843-4714-84CF-C05DDAEC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3D115-FE92-4678-9CA6-BAFE8957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4B06C-EE31-47B4-BD0C-EA9EED4B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Certainty Thermometer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Claim cards: '2+2=4', 'This source is reliable', 'This...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Certainty Thermometer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Criteria cards: proof, replication, consensus,...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38474-71F5-4737-B01D-14C04F3F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9D841-F58B-4214-A5E7-3907E3FE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8C992-8145-4ADF-9D72-49785044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7399A-6BE1-4524-85F4-2222DFF8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Certainty Thermometer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Certainty Thermometer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4883731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C89C4D-531F-4E46-AAF6-7F56D710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DD1BE-ADE1-416D-ACA9-98A3400D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2B118-8332-4EB3-8ECF-384A6571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C077D-4AA6-46B7-BB72-8D926EA2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058ED-2341-4D47-A20A-574886CA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AD364-1075-4B5D-BC2E-EFAF7401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42C9E-BC79-4340-A374-0B870D9F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CCFB4-1B8E-41D8-8297-C69346EE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DEC75-290A-4C1B-86D7-74418FF0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EBEB9-B337-43D7-9E2A-B5A5D5C3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48931-C355-4B2D-ADC2-E244B524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B6FEE-87B1-4237-83CB-57C15684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groups claim cards and ask them to place each on a certainty thermometer.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explain the criterion they used first.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Introduce criteria cards such as proof, replication, interpretation, consensus,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usefulness, and ethical stakes.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Students revise placements using at least two criteria.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why certainty differs across knowledge contexts.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B1519-8EEB-4F01-8A91-C45CD2C9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Cross-AOK.</a:t>
            </a:r>
          </a:p>
        </p:txBody>
      </p:sp>
    </p:spTree>
    <p:extLst>
      <p:ext uri="{BB962C8B-B14F-4D97-AF65-F5344CB8AC3E}">
        <p14:creationId xmlns:p14="http://schemas.microsoft.com/office/powerpoint/2010/main" val="21258729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584F01-B2D8-4A60-82F0-D5D7048C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562AC-91ED-4A48-97DC-E9337F98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051C0-F9EB-4AE7-A41F-EDDC72E1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39030-86F7-4EEF-88B2-5DED819E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A9148-6E51-449C-8339-86D9FCB2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E7538-DF8F-4ED2-8C1A-98ED01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BEDD6-F9B6-4D04-9EB8-53F0C7DB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78E0E-8071-4FF1-AE08-D5512EAD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6D33A-B8F6-47CF-A09A-E188C064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F5DA3-2C82-4474-9970-32F09F70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D1980-7046-4EB4-926A-7C48F3C6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FAB6F-9B19-4141-B12A-01785F95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DD6E8-1E30-431D-BCD0-4AFC9926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8B5BC-F416-42A7-83B1-D15BB57C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92E02-0130-4825-847F-F594CE18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795BF-1EDD-4C15-87E0-09152C3E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71346-B35E-491A-9F70-0FB68225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65B7F-323D-4008-ACE6-8E13FA05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AF902-BA99-4A19-9C04-87669BBD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A4FBF-D043-4C74-AF5E-DA2768D2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E8D0D-CDC7-4824-B8EC-E5CEEDAB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1A4FC-EE17-467D-819B-473C5E19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E0AD5-71DC-4F43-AEA0-E12D8856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9B45E-1DBD-4D83-B138-A3A51489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C544E8-E56B-48A5-B68A-A58CF3C2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B38FD7-BCFD-4B6F-8B33-8610B896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6BD89-F953-48F9-B9A3-20142300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D1A81A-EEFE-44F0-81D9-2565F19E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5645411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7DEFE7-3976-4966-8E7D-3CD45C61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48DB2-FB91-4F1E-A864-6800B666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F265F-469C-40A4-BE24-44881830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68036-E96C-48F5-B980-1C2639F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E6FD6-6808-4E3D-A10B-3B6367BE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A4D51-C776-4146-B615-7796C44C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6D231-7D8A-42DE-AE32-34CFE02F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64CEA-8F48-4C28-A98B-2EE27797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DAF54-50AF-40DF-A6E9-ED5BE763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17FD5-BA24-4A9E-8EA2-74A8A0F0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0C7C8-66B6-47E3-8755-7715BD29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7D59C-E707-476C-8595-6CB3BBA7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Is certainty the best measure of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less certain knowledge be more useful or meaningful?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should knowers compare standards across AOKs?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3CC81-0897-4957-8116-EEF9CF2B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7B91C-D819-496C-839E-21E4A1F2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41585-1BB6-41A9-84E8-F712F4D1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BD4F5-8707-4DB3-BA98-832A33F8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certainty the best measure of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should standards be compared across AOKs?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uncertainty be a strength in some knowledge contexts?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7BBB5-A10E-46F8-8688-F0D5F207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3860325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12D1A-89E5-46BA-AEB1-A7AF56B5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92848-8E22-4CC7-9C0D-9EBB70A2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01991-C248-4A6D-9A2F-5B75B0EB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2F4D1-9EEF-4577-A6EC-D09E08CD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7C999-B0FA-48ED-AEC0-B222D7E1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E8EB7-F196-4350-8C8D-878F9E47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3AA13-F286-4CA7-8B1B-9C0DDE94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113C0-B0D9-4A06-BE93-96A5D04C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986CE-1548-4ADD-9232-BFB2E3D7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D7A67-96D1-40B5-B766-C6466924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A3CA3-4133-46C2-8649-5D5F771B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AA6C3-1365-4829-9DB9-0C434AAC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art claim stayed uncertain but became more meaningful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when judged by interpretation rather than proof.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science claim was less certain than the math claim but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still highly reliable.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F07FC-E623-46F5-98C3-F530BA4E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468C2-4C35-48B8-9867-7432172A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85951-5734-42C5-9C42-AEA2FE8E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1BBDA-9715-4867-B7D4-06E11DBF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build separate thermometers for certainty,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usefulness, and ethical importance.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Use the activity to plan a TOK essay comparison.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b646232dc4ff8">
            <a:extLst>
              <a:ext uri="{96DAC541-7B7A-43D3-8B79-37D633B846F1}">
                <asvg:svgBlip xmlns:asvg="http://schemas.microsoft.com/office/drawing/2016/SVG/main" r:embed="Rf2ef2c9cde7648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0615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74C6D3-861B-44C7-91B9-8BDC73C0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04BA6-4AC2-4EA4-96B3-D71ECBA9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7CFC9-812F-4E4B-8CAB-513C45F3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96310-4A20-41AB-BB3B-30583E04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6A4DD-E8EA-461C-9332-0F274CEE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5E41A-D7AC-483F-A516-3B63A1B7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AE67D-EB97-44EC-9696-CE882459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0F578-99C9-440F-8810-0A3CF5C1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C2894-6321-4CA0-B589-CFB24758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389B9-0B7C-405D-A508-9F01D3A7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2B91B-1593-461C-AAEF-6AA7E228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72DFF-59E4-4112-B4C6-08D366C3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certainty thermometer with claim cards repositioned after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criteria discussion.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CF3F7-F0AB-4F12-A91F-207A70C5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94542-AA88-45CD-A777-C0F22F4F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7A4C9-16E3-45C3-A585-9A0B52F0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A9E5B-B006-4519-92E9-E186E705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1D2C4-882F-4BE6-A476-EAB489B3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90E5E-C992-4C1A-84B5-F04ACF13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87DFE-AB78-4D23-BC4F-891DC929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5C4A41-526E-4E21-A671-8E4DFDC9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Reliability Ranking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Claim Migration Lab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Evidence?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F328D-EDF3-4E09-8D6B-EE63D5F6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237272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2026-06-20T10:31:41.4000000Z</dcterms:created>
  <dcterms:modified xsi:type="dcterms:W3CDTF">2026-06-20T10:31:41.4000000Z</dcterms:modified>
</coreProperties>
</file>