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b6f24169074b1a" /><Relationship Type="http://schemas.openxmlformats.org/officeDocument/2006/relationships/extended-properties" Target="/docProps/app.xml" Id="R45bc60f0c72f494c" /><Relationship Type="http://schemas.openxmlformats.org/officeDocument/2006/relationships/officeDocument" Target="/ppt/presentation.xml" Id="Rff6190e35be544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1639cfa4154cd8"/>
  </p:sldMasterIdLst>
  <p:notesMasterIdLst>
    <p:notesMasterId xmlns:r="http://schemas.openxmlformats.org/officeDocument/2006/relationships" r:id="R351881e926044122"/>
  </p:notesMasterIdLst>
  <p:sldIdLst>
    <p:sldId xmlns:r="http://schemas.openxmlformats.org/officeDocument/2006/relationships" id="256" r:id="Rbdcf1735300f49a0"/>
    <p:sldId xmlns:r="http://schemas.openxmlformats.org/officeDocument/2006/relationships" id="257" r:id="Re4dc7e9e491c4046"/>
    <p:sldId xmlns:r="http://schemas.openxmlformats.org/officeDocument/2006/relationships" id="258" r:id="Rbdcc559b7d3c43e3"/>
    <p:sldId xmlns:r="http://schemas.openxmlformats.org/officeDocument/2006/relationships" id="259" r:id="Rbfcb3fcaa01c4b58"/>
    <p:sldId xmlns:r="http://schemas.openxmlformats.org/officeDocument/2006/relationships" id="260" r:id="R68181bbcdd194872"/>
    <p:sldId xmlns:r="http://schemas.openxmlformats.org/officeDocument/2006/relationships" id="261" r:id="R12fe1bf3b23340f2"/>
    <p:sldId xmlns:r="http://schemas.openxmlformats.org/officeDocument/2006/relationships" id="262" r:id="R3fcad76f94d04148"/>
    <p:sldId xmlns:r="http://schemas.openxmlformats.org/officeDocument/2006/relationships" id="263" r:id="R0a3f1d3f827846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a5a01a205b4b7f" /><Relationship Type="http://schemas.openxmlformats.org/officeDocument/2006/relationships/slideMaster" Target="/ppt/slideMasters/slideMaster1.xml" Id="R971639cfa4154cd8" /><Relationship Type="http://schemas.openxmlformats.org/officeDocument/2006/relationships/notesMaster" Target="/ppt/notesMasters/notesMaster1.xml" Id="R351881e926044122" /><Relationship Type="http://schemas.openxmlformats.org/officeDocument/2006/relationships/presProps" Target="/ppt/presProps.xml" Id="R733b6aa2185f4b57" /><Relationship Type="http://schemas.openxmlformats.org/officeDocument/2006/relationships/tableStyles" Target="/ppt/tableStyles.xml" Id="R2d1bbbb917f04ffd" /><Relationship Type="http://schemas.openxmlformats.org/officeDocument/2006/relationships/slide" Target="/ppt/slides/slide1.xml" Id="Rbdcf1735300f49a0" /><Relationship Type="http://schemas.openxmlformats.org/officeDocument/2006/relationships/slide" Target="/ppt/slides/slide2.xml" Id="Re4dc7e9e491c4046" /><Relationship Type="http://schemas.openxmlformats.org/officeDocument/2006/relationships/slide" Target="/ppt/slides/slide3.xml" Id="Rbdcc559b7d3c43e3" /><Relationship Type="http://schemas.openxmlformats.org/officeDocument/2006/relationships/slide" Target="/ppt/slides/slide4.xml" Id="Rbfcb3fcaa01c4b58" /><Relationship Type="http://schemas.openxmlformats.org/officeDocument/2006/relationships/slide" Target="/ppt/slides/slide5.xml" Id="R68181bbcdd194872" /><Relationship Type="http://schemas.openxmlformats.org/officeDocument/2006/relationships/slide" Target="/ppt/slides/slide6.xml" Id="R12fe1bf3b23340f2" /><Relationship Type="http://schemas.openxmlformats.org/officeDocument/2006/relationships/slide" Target="/ppt/slides/slide7.xml" Id="R3fcad76f94d04148" /><Relationship Type="http://schemas.openxmlformats.org/officeDocument/2006/relationships/slide" Target="/ppt/slides/slide8.xml" Id="R0a3f1d3f827846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50c33a79c742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fdb8e7bfeb4cb5" /><Relationship Type="http://schemas.openxmlformats.org/officeDocument/2006/relationships/notesMaster" Target="/ppt/notesMasters/notesMaster1.xml" Id="R095713a7fe0745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ae37e9761844dc" /><Relationship Type="http://schemas.openxmlformats.org/officeDocument/2006/relationships/notesMaster" Target="/ppt/notesMasters/notesMaster1.xml" Id="Ra4e0a661664a49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7d35ee9b904fb4" /><Relationship Type="http://schemas.openxmlformats.org/officeDocument/2006/relationships/notesMaster" Target="/ppt/notesMasters/notesMaster1.xml" Id="R76765fb64a224f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9b5576704c4f4b" /><Relationship Type="http://schemas.openxmlformats.org/officeDocument/2006/relationships/notesMaster" Target="/ppt/notesMasters/notesMaster1.xml" Id="R80f18687ba374d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a953eddb1540d3" /><Relationship Type="http://schemas.openxmlformats.org/officeDocument/2006/relationships/notesMaster" Target="/ppt/notesMasters/notesMaster1.xml" Id="Rd69de1ac573d4d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3cc738cd1d42e1" /><Relationship Type="http://schemas.openxmlformats.org/officeDocument/2006/relationships/notesMaster" Target="/ppt/notesMasters/notesMaster1.xml" Id="R17de080c2e6e49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e3a93ef95a447b" /><Relationship Type="http://schemas.openxmlformats.org/officeDocument/2006/relationships/notesMaster" Target="/ppt/notesMasters/notesMaster1.xml" Id="R3b1693cd76404c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6e5ef4ae214542" /><Relationship Type="http://schemas.openxmlformats.org/officeDocument/2006/relationships/notesMaster" Target="/ppt/notesMasters/notesMaster1.xml" Id="Re605dc9beada44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270972eed48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cb6d7dadc94fb7" /><Relationship Type="http://schemas.openxmlformats.org/officeDocument/2006/relationships/slideLayout" Target="/ppt/slideLayouts/slideLayout1.xml" Id="R1fa7272b03ad4d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a7272b03ad4d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7de28931543ba" /><Relationship Type="http://schemas.openxmlformats.org/officeDocument/2006/relationships/image" Target="/ppt/media/image.png" Id="Ree0cc4ed36644632" /><Relationship Type="http://schemas.openxmlformats.org/officeDocument/2006/relationships/image" Target="/ppt/media/image.svg" Id="R64ba7b26ca5f4a63" /><Relationship Type="http://schemas.openxmlformats.org/officeDocument/2006/relationships/notesSlide" Target="/ppt/notesSlides/notesSlide1.xml" Id="R350395c40ac947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d72a75e5f40ba" /><Relationship Type="http://schemas.openxmlformats.org/officeDocument/2006/relationships/notesSlide" Target="/ppt/notesSlides/notesSlide2.xml" Id="R2807566e5cd141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44ceafa2c43bf" /><Relationship Type="http://schemas.openxmlformats.org/officeDocument/2006/relationships/image" Target="/ppt/media/image2.png" Id="R667b998893a84f33" /><Relationship Type="http://schemas.openxmlformats.org/officeDocument/2006/relationships/image" Target="/ppt/media/image2.svg" Id="Rb559e18cf00449b8" /><Relationship Type="http://schemas.openxmlformats.org/officeDocument/2006/relationships/notesSlide" Target="/ppt/notesSlides/notesSlide3.xml" Id="R76f9761da3974e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2a48d2965419c" /><Relationship Type="http://schemas.openxmlformats.org/officeDocument/2006/relationships/notesSlide" Target="/ppt/notesSlides/notesSlide4.xml" Id="Reb9065dba26841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0a06869df4158" /><Relationship Type="http://schemas.openxmlformats.org/officeDocument/2006/relationships/notesSlide" Target="/ppt/notesSlides/notesSlide5.xml" Id="Rd61d0c21d5aa4b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a47df8e7a4b19" /><Relationship Type="http://schemas.openxmlformats.org/officeDocument/2006/relationships/notesSlide" Target="/ppt/notesSlides/notesSlide6.xml" Id="R75a88f430e0548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fce3a30294813" /><Relationship Type="http://schemas.openxmlformats.org/officeDocument/2006/relationships/image" Target="/ppt/media/image3.png" Id="R5ac87c2bee7d4244" /><Relationship Type="http://schemas.openxmlformats.org/officeDocument/2006/relationships/image" Target="/ppt/media/image3.svg" Id="R4e95f0b9d0ca40ee" /><Relationship Type="http://schemas.openxmlformats.org/officeDocument/2006/relationships/notesSlide" Target="/ppt/notesSlides/notesSlide7.xml" Id="Rdb811970951146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453813f794215" /><Relationship Type="http://schemas.openxmlformats.org/officeDocument/2006/relationships/notesSlide" Target="/ppt/notesSlides/notesSlide8.xml" Id="Rfcd530d54522452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F4834B-08BA-433D-91FF-66B04E66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98B56-3EDF-4C62-AC01-0714C568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5D2B8-0C97-4174-9313-33CBA93D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1796C-7A8D-43C2-8B05-28D2EBB8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A98B4-DB85-4B1E-85C1-5CFEFE2A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07BDB-DEE7-4BF7-83EA-19FE7DDA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B45C6-5E17-48C2-8D2B-54E55934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Base Rate Neglect Clinic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73036-E589-45F0-A2D4-3953AD72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cc4ed36644632">
            <a:extLst>
              <a:ext uri="{96DAC541-7B7A-43D3-8B79-37D633B846F1}">
                <asvg:svgBlip xmlns:asvg="http://schemas.microsoft.com/office/drawing/2016/SVG/main" r:embed="R64ba7b26ca5f4a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CF4AC-6E35-47D1-BDD3-5D8854B4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B6A0F-0FB3-47F2-9193-4A0AC2F2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D627B-3FE9-4634-8509-A92673DB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2B4C0-3CB9-40A5-8932-3BF9C9FA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Probability judgements depend on the background rate as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well as the new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3B614-778D-4853-895A-1D8AE774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7221B-E6D2-4123-A1EC-BAD85E27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FD786-C9F4-4E83-8FB4-AB8076F1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B5BE8-6217-4E7B-BF84-EB5B511D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7830054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4CEEC0-BC37-4967-B00D-32076556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90237-6225-4446-A0B5-DE416A44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2AA03-2C01-4881-96F9-BE3D378B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1A890-2346-4801-BFD8-6CE8F475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87E99-571F-4936-A1B5-37970F98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82B74-1146-4977-9576-D1E564B4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5D5ED-3448-4C50-B153-4CC53453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B6D73-EB00-4BA2-8FA2-66AEC6C7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0A6C4-B7D0-42BE-844E-94878B4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B404E-5FB4-460D-9BE3-96D5075F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23054-26D5-40E9-B5B0-F927C6A7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A3BEA-CEA9-48AF-A995-0B21DE18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experience how intuitive probability can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overreact to diagnostic evidence.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Probability judgements depend on the background rate 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well as the new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461D1-B6B3-47A7-9896-B47BB020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05E79-AB71-41F3-AFA8-385544B1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A056A-BC9E-4634-B786-530C746F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D6B553-E5A9-4DBC-98B0-FE508723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Natural frequency cards for a screening-test scenario.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Hundred-person grid or counters.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Thousand-person grid or token set with true positives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and false positives in different colors.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Risk communication card: percentage version, frequency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version, and visual-grid version.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1FF7A-A23C-4928-BD67-97F4BA5D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0601294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30A705-C212-470D-85F5-7D25F88C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16D2D-801D-4AEB-B504-513C9827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C5984-D318-45CB-99BF-15E1667E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CE0BA-3141-44AF-8432-75D5B6A8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0AE3D-C97B-481D-8834-2C19BFB0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CA230-B1BD-48A7-8874-214B79D9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EBD18-42DA-4F0B-A1F1-858BFBF0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AC191-4364-40E4-BEC2-0C2CA36F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b998893a84f33">
            <a:extLst>
              <a:ext uri="{96DAC541-7B7A-43D3-8B79-37D633B846F1}">
                <asvg:svgBlip xmlns:asvg="http://schemas.microsoft.com/office/drawing/2016/SVG/main" r:embed="Rb559e18cf00449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01652-88F3-47F2-AFCD-83CED8C1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EF0E4-45CE-43B0-AB24-2AEB87D8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DBF11-BB49-485C-A3FC-C8E47BEC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E846C-A587-434F-AE56-60EFC141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Base Rate Neglect Clinic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In 1000 people, 10 have Condition X. The test...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Base Rate Neglect Clinic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Question: if someone tests positive, is it...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DC2D0-DC3B-442A-9093-42C5A408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4B703-B88D-4621-9A38-74693B9A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CA101-7397-440C-B829-91FF1F9E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0F5EF-C651-4D5F-9F4D-CABD9EF7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Base Rate Neglect Clinic Stimulus A, what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Base Rate Neglect Clinic Stimulus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9481214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EBFFE5-E4D5-47B0-823E-FE940D9A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A62D7-11FD-4D77-957D-62D12071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E5988-6129-41C4-A9ED-3D4A1A16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58FF6-AC8C-4B0E-BFFE-A53B5457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FC653-A2BB-4896-AD10-A764AD4F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4CBFA-D963-40FF-9F69-5E2FF639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9F9A5-DAD6-4378-8B17-B6792160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9BBD5-16E4-4B53-8910-28F744ED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5876C-CCCA-418D-9F24-4DB276E9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A468D-5D13-4903-B24B-0814AD24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5E719-AFD8-440E-BABD-E078550C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45504-C04E-4D95-A576-DB0585A6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Present a fictional condition with a low base rate and a fairly accurate test.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Ask students to estimate the chance someone has the condition after a positive result.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Build the scenario with a 1000-person or 100-person frequency table.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Compare intuitive estimates with the frequency result.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why base rates are easy to neglect.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4BA0A-7315-4392-8D68-B0671774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Mathemat...</a:t>
            </a:r>
          </a:p>
        </p:txBody>
      </p:sp>
    </p:spTree>
    <p:extLst>
      <p:ext uri="{BB962C8B-B14F-4D97-AF65-F5344CB8AC3E}">
        <p14:creationId xmlns:p14="http://schemas.microsoft.com/office/powerpoint/2010/main" val="7316336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6233FB-BB6D-4E06-8BFE-50ED5059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5D93B-E788-4B7C-B5A1-E1D88145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4429B-413F-43AB-9883-85CDF7E8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E0A25-1D12-4A99-91C9-EFC037D6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950E2-3E16-4553-B88A-182BB59C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F0BEC-F90B-4E1F-B013-1A55DFD0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22817-5610-4BCE-B31F-28C3729C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60274-F6EF-4D50-A27E-B895CD47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5E6EC-18C5-46FB-87FB-06EC8CF0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B1697-F7A8-4B36-A538-57C9F523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69BF8-308E-408E-B00C-B2ECF487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D7726-9AEE-42A6-8612-A1ADFCEA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58092-E63B-473A-A9F0-03F51907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296BE-CFB3-41F1-9B9F-8A123A64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47E85-33B6-4C01-8F68-A6C6BD1C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7680F-464D-4282-8FA5-C75682AD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6743E-0BC9-48EC-BA1C-AE6B2A85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340F49-8B68-4D91-856D-D3D7F049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FDC5C2-7CC7-4DB4-BE6D-0F1784DA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BE53F4-D4D4-44F5-8E6D-0581D6E8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0CBEF-9FD0-4F25-9FDB-C28BF284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12135-0AA8-4BEE-A710-AAADA934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95F3DB-849E-4C8C-A43A-FC26400B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F468D7-3A0A-40A7-A34B-0D9EFC43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93044B-2DD2-4C45-995C-904CFAAC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B0B9A1-77F4-4508-879E-5BEFC421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9ED746-B319-4587-94A8-347454EE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2C23BC-4ADE-462F-93D1-35A8350D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6694300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B8579A-6B4F-4DAB-80B9-918AAE5D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43E2B-5B84-4605-8490-FA1857E1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1BACE-5C0B-4671-AED6-3FDF63F3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418C3-0895-4F94-A80C-6540BDDE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FD4BA-BCB9-4E33-8FBE-79088A4E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BCDFE-2A2B-4680-92C5-AFE9A26B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1C718-281D-49AE-B845-40A042A8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3BF35-B661-44F6-8F87-ADED8EFB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C97EA-1799-4A53-BADB-47E9BDAB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DB58F-2900-4366-B934-FF80CFC2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2FEEC-C399-470E-ABC4-CA276B3A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A8538-B969-4120-A528-74BBA830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Why can mathematically correct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evidence still mislead intuitive knowers?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should probability be communicated as percentages and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when as natural frequencies?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format affect mathematical understanding?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7ECBD-EBF5-4DFC-89BC-04C957AF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3BD06-DF1C-42B1-8299-8A1AA29A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B5756-8F10-4208-8C6A-3B54BD2C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6AB688-6578-4952-9817-4C33A3FF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representation affect mathematical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Why can intuition misread probability?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responsibilities come with communicating risk?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82173-2E44-46CB-8050-235BF878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2726780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79CF2B-60D9-43BD-840B-104E1AFF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2C59E-946B-4630-B94D-345CEF22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D9268-63B6-4259-9965-83DE5126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766B7-BA67-470A-8D33-A667C38E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EE9AF-6312-4459-9015-5B926032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E6F07-EF2A-46C1-9D9E-C3A9E333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6FA33-1AED-467F-8067-498442DD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60733-4BCB-4900-B21C-50836794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8ECE4-CEDB-4B04-B8A8-959711C9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382C22-E1BE-4F8E-904C-61CEFBB8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FE300-3817-4A10-94C6-B1617338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49FE7-54C9-4DEB-97C7-26107EAD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 focused on test accuracy and ignored how rare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condition was.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grid made the false positives visible in a way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percentage did not.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A5614-D90C-42D7-9ACD-64E5E1D5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9E1A2-FF84-4DCA-A2C1-D3AACD02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7D139-E5B2-4353-B986-4214E1B6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26B34C-DC83-4285-9A25-A0212C8A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rewrite a risk claim in three formats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evaluate which is most responsible.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Compare this with legal evidence, medical testing,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spam filtering.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87c2bee7d4244">
            <a:extLst>
              <a:ext uri="{96DAC541-7B7A-43D3-8B79-37D633B846F1}">
                <asvg:svgBlip xmlns:asvg="http://schemas.microsoft.com/office/drawing/2016/SVG/main" r:embed="R4e95f0b9d0ca40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4216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CBB826-3E1C-4AC8-BE31-8D01E8C2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87F1D-2785-4270-8851-A0E8824B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82A48-FD02-492C-9A5F-43B7E448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9512F-5928-40B7-BA75-17BBAE31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84D65-0813-4533-B95C-EB83324B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DB3B5-54B5-4073-9F60-F9C0C64F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0CC5F-F5BE-410E-8607-CA7B49FC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C104A-4998-4583-B66A-302A4B23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E5245-BB7C-474A-A7F2-8DA05E12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D03D3-74B0-43CD-B048-32F92C17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11159-E110-40E7-95BF-B75BF3B2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C9C7D-E338-4C34-B6F9-2E71F706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hundred-person grid showing true positives and false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positives.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3EDCD-0182-4DE8-89B9-3152056D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9EFBC-2270-4837-A97E-478DDC97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D1A86-85A7-4D24-B7DD-E41196C5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58ED3-58C7-4A90-9692-3B3D2A56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87EF5-4297-45E3-9BEF-77B6608D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4597F-1493-4151-B742-A17510C9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6EB082-4C9E-4E8D-A751-10AA26D7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C81D1-5964-499F-918A-D50E5E9F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Monty Hall Shock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Calculator Trust Test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P-hacking with Random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2A38D-0019-4EF6-87CA-80FE56D9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936094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2026-06-20T10:31:38.5000000Z</dcterms:created>
  <dcterms:modified xsi:type="dcterms:W3CDTF">2026-06-20T10:31:38.5000000Z</dcterms:modified>
</coreProperties>
</file>