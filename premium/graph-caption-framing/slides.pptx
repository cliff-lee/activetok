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29ea66d52a425e" /><Relationship Type="http://schemas.openxmlformats.org/officeDocument/2006/relationships/extended-properties" Target="/docProps/app.xml" Id="R8652fc3c41984342" /><Relationship Type="http://schemas.openxmlformats.org/officeDocument/2006/relationships/officeDocument" Target="/ppt/presentation.xml" Id="Ra9f8fa2e6d5944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17c4359514b36"/>
  </p:sldMasterIdLst>
  <p:notesMasterIdLst>
    <p:notesMasterId xmlns:r="http://schemas.openxmlformats.org/officeDocument/2006/relationships" r:id="Rcc298e24c7b84dd1"/>
  </p:notesMasterIdLst>
  <p:sldIdLst>
    <p:sldId xmlns:r="http://schemas.openxmlformats.org/officeDocument/2006/relationships" id="256" r:id="Rf2c145fd6a7d45b4"/>
    <p:sldId xmlns:r="http://schemas.openxmlformats.org/officeDocument/2006/relationships" id="257" r:id="R0db8947807f4487f"/>
    <p:sldId xmlns:r="http://schemas.openxmlformats.org/officeDocument/2006/relationships" id="258" r:id="R46341d9525d14931"/>
    <p:sldId xmlns:r="http://schemas.openxmlformats.org/officeDocument/2006/relationships" id="259" r:id="R7bc6a3fb940b4e55"/>
    <p:sldId xmlns:r="http://schemas.openxmlformats.org/officeDocument/2006/relationships" id="260" r:id="Rb059bea207ad4a44"/>
    <p:sldId xmlns:r="http://schemas.openxmlformats.org/officeDocument/2006/relationships" id="261" r:id="R1c9fec279873407a"/>
    <p:sldId xmlns:r="http://schemas.openxmlformats.org/officeDocument/2006/relationships" id="262" r:id="Rc4759e68fc844802"/>
    <p:sldId xmlns:r="http://schemas.openxmlformats.org/officeDocument/2006/relationships" id="263" r:id="R775a5588aeee4f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80e0d2f66c4a6d" /><Relationship Type="http://schemas.openxmlformats.org/officeDocument/2006/relationships/slideMaster" Target="/ppt/slideMasters/slideMaster1.xml" Id="R16217c4359514b36" /><Relationship Type="http://schemas.openxmlformats.org/officeDocument/2006/relationships/notesMaster" Target="/ppt/notesMasters/notesMaster1.xml" Id="Rcc298e24c7b84dd1" /><Relationship Type="http://schemas.openxmlformats.org/officeDocument/2006/relationships/presProps" Target="/ppt/presProps.xml" Id="R13b74f1981794dcd" /><Relationship Type="http://schemas.openxmlformats.org/officeDocument/2006/relationships/tableStyles" Target="/ppt/tableStyles.xml" Id="R936b947a0b9b400b" /><Relationship Type="http://schemas.openxmlformats.org/officeDocument/2006/relationships/slide" Target="/ppt/slides/slide1.xml" Id="Rf2c145fd6a7d45b4" /><Relationship Type="http://schemas.openxmlformats.org/officeDocument/2006/relationships/slide" Target="/ppt/slides/slide2.xml" Id="R0db8947807f4487f" /><Relationship Type="http://schemas.openxmlformats.org/officeDocument/2006/relationships/slide" Target="/ppt/slides/slide3.xml" Id="R46341d9525d14931" /><Relationship Type="http://schemas.openxmlformats.org/officeDocument/2006/relationships/slide" Target="/ppt/slides/slide4.xml" Id="R7bc6a3fb940b4e55" /><Relationship Type="http://schemas.openxmlformats.org/officeDocument/2006/relationships/slide" Target="/ppt/slides/slide5.xml" Id="Rb059bea207ad4a44" /><Relationship Type="http://schemas.openxmlformats.org/officeDocument/2006/relationships/slide" Target="/ppt/slides/slide6.xml" Id="R1c9fec279873407a" /><Relationship Type="http://schemas.openxmlformats.org/officeDocument/2006/relationships/slide" Target="/ppt/slides/slide7.xml" Id="Rc4759e68fc844802" /><Relationship Type="http://schemas.openxmlformats.org/officeDocument/2006/relationships/slide" Target="/ppt/slides/slide8.xml" Id="R775a5588aeee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4eb87686514e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57b367895244a2" /><Relationship Type="http://schemas.openxmlformats.org/officeDocument/2006/relationships/notesMaster" Target="/ppt/notesMasters/notesMaster1.xml" Id="Ra4f40682e83e48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bb3533285b4204" /><Relationship Type="http://schemas.openxmlformats.org/officeDocument/2006/relationships/notesMaster" Target="/ppt/notesMasters/notesMaster1.xml" Id="R1896ca0f255645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21ba5b46a14ffc" /><Relationship Type="http://schemas.openxmlformats.org/officeDocument/2006/relationships/notesMaster" Target="/ppt/notesMasters/notesMaster1.xml" Id="R709273033c4749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8474d1c02a4573" /><Relationship Type="http://schemas.openxmlformats.org/officeDocument/2006/relationships/notesMaster" Target="/ppt/notesMasters/notesMaster1.xml" Id="R077c8bd6ea144b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fcc8c7777343c9" /><Relationship Type="http://schemas.openxmlformats.org/officeDocument/2006/relationships/notesMaster" Target="/ppt/notesMasters/notesMaster1.xml" Id="Ra9bd631bce1b45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ba3c479ff04331" /><Relationship Type="http://schemas.openxmlformats.org/officeDocument/2006/relationships/notesMaster" Target="/ppt/notesMasters/notesMaster1.xml" Id="Rd538eac545fb41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127a0be2354927" /><Relationship Type="http://schemas.openxmlformats.org/officeDocument/2006/relationships/notesMaster" Target="/ppt/notesMasters/notesMaster1.xml" Id="R125808536a1e4d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d263e5edb241c0" /><Relationship Type="http://schemas.openxmlformats.org/officeDocument/2006/relationships/notesMaster" Target="/ppt/notesMasters/notesMaster1.xml" Id="Rbef89d184a73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45d75a4eb42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ea94e09ee441ef" /><Relationship Type="http://schemas.openxmlformats.org/officeDocument/2006/relationships/slideLayout" Target="/ppt/slideLayouts/slideLayout1.xml" Id="R5234220d139640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34220d139640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f467fd57a4286" /><Relationship Type="http://schemas.openxmlformats.org/officeDocument/2006/relationships/image" Target="/ppt/media/image.png" Id="R2933d77fbe89468c" /><Relationship Type="http://schemas.openxmlformats.org/officeDocument/2006/relationships/image" Target="/ppt/media/image.svg" Id="R2e9c7d42c20a49de" /><Relationship Type="http://schemas.openxmlformats.org/officeDocument/2006/relationships/notesSlide" Target="/ppt/notesSlides/notesSlide1.xml" Id="R3cead9b5f48547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c338ca0194533" /><Relationship Type="http://schemas.openxmlformats.org/officeDocument/2006/relationships/notesSlide" Target="/ppt/notesSlides/notesSlide2.xml" Id="R7bbfe248e08a47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3ed823e1742e7" /><Relationship Type="http://schemas.openxmlformats.org/officeDocument/2006/relationships/image" Target="/ppt/media/image2.png" Id="R0411eee1e5c1499a" /><Relationship Type="http://schemas.openxmlformats.org/officeDocument/2006/relationships/image" Target="/ppt/media/image2.svg" Id="R69d98b2818314a17" /><Relationship Type="http://schemas.openxmlformats.org/officeDocument/2006/relationships/notesSlide" Target="/ppt/notesSlides/notesSlide3.xml" Id="R84faadecbce64e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defd0d7d44f2a" /><Relationship Type="http://schemas.openxmlformats.org/officeDocument/2006/relationships/notesSlide" Target="/ppt/notesSlides/notesSlide4.xml" Id="R56e5f9f399834a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aaaa195294ea1" /><Relationship Type="http://schemas.openxmlformats.org/officeDocument/2006/relationships/notesSlide" Target="/ppt/notesSlides/notesSlide5.xml" Id="Rf61da44eec7247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6736dd0ae4691" /><Relationship Type="http://schemas.openxmlformats.org/officeDocument/2006/relationships/notesSlide" Target="/ppt/notesSlides/notesSlide6.xml" Id="Rce9cdfe38b714c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7e64547774a28" /><Relationship Type="http://schemas.openxmlformats.org/officeDocument/2006/relationships/image" Target="/ppt/media/image3.png" Id="R58a21e9cf853438c" /><Relationship Type="http://schemas.openxmlformats.org/officeDocument/2006/relationships/image" Target="/ppt/media/image3.svg" Id="R220752282bdb4621" /><Relationship Type="http://schemas.openxmlformats.org/officeDocument/2006/relationships/notesSlide" Target="/ppt/notesSlides/notesSlide7.xml" Id="Rbb00cc65ee9b41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f3ab5f3b1462d" /><Relationship Type="http://schemas.openxmlformats.org/officeDocument/2006/relationships/notesSlide" Target="/ppt/notesSlides/notesSlide8.xml" Id="Rced8a1e2596a44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751A26-B7FB-407C-ACCB-13EB60E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88E4E-CD5A-4E1B-B853-3228AE7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A6A11-B792-47CA-9B59-55DAC700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1AA14-A22A-40A9-9D3B-CF5204B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C190B-8545-4A78-B03B-566D9F4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7D45E-713A-44EE-90F8-1CBDD152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60506-44ED-4ED1-8D26-2613DF0F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Graph Caption Framing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99984-3BCC-497A-A757-331FC9F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3d77fbe89468c">
            <a:extLst>
              <a:ext uri="{96DAC541-7B7A-43D3-8B79-37D633B846F1}">
                <asvg:svgBlip xmlns:asvg="http://schemas.microsoft.com/office/drawing/2016/SVG/main" r:embed="R2e9c7d42c20a49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7CA58-2061-48E7-8E96-F08414A9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3573E-4B8D-424F-B9B3-EFE1C886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33CDC-131A-4F84-AED1-FF39008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C78E2-8128-4E50-946E-587C6F2F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Data needs language before it becomes a public knowledge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claim.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7EA7B-41E3-40A4-88A4-57220A30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24BD0-8B99-4B52-9184-0F9D07C3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0859D-37AA-47BB-9F82-D917D325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E0FE0-6FC0-44CB-8449-3FB5D906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56168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5E9A9E-564B-404C-8DD8-10E09A3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40E4D-074D-4E40-8FB5-5A88CD9F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6731E-CF37-4B28-8457-70127BA1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DA998-0AEB-4255-B066-D1372384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56D9E-77E7-43DE-AD1E-B1C16FCC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F9CCF-DFB7-49BC-B2D7-8E977A33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35EFC-9602-47E8-9D77-2D50EE11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AE695-C581-4A97-B34A-08307B82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21264-7E9F-40C8-BB89-F199EF00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8D7C8-36E3-412D-8472-5551B4B4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549AD-7E57-4ACA-BBB8-1781F1A3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B2B6A-423C-4C4D-B5D7-59FAE3D6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see how captions, titles, and labels frame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interpretation of quantitative evidence.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Data needs language before it becomes a public knowledge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37895-2DD5-4080-B2A8-A6EC38B7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6E41B-957D-45BD-B9CA-6B0ABCD3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FE58B-181A-456C-95E0-9FA7500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D7DE0-B36B-4CF6-9130-F98122D5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ambiguous or multi-interpretable graph with axes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data but no title.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Caption cards: cautious, alarmist, celebratory,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skeptical, policy-focused.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Caption frame cards: cautious, alarming, celebratory,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skeptical, policy-focused.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 context checklist: sample, scale, missing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variables, time period, comparison group.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19D78-AD16-4E4D-A6E7-E208965A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2184810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A875C-00AB-42E6-B4C8-3D668509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803E3-5088-49C4-B4E0-9806A42C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6B285-5B8B-4BA7-A079-9EBCC0BA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18024-0FAF-4C55-9E9E-0910D14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D3137-244B-487F-836C-3EAC7C1C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D66B6-D119-4D89-BFBC-366E2E20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D26F7-73C4-47E8-B6BB-72FB4614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71CB6-5899-405B-A2A3-D6A636EB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1eee1e5c1499a">
            <a:extLst>
              <a:ext uri="{96DAC541-7B7A-43D3-8B79-37D633B846F1}">
                <asvg:svgBlip xmlns:asvg="http://schemas.microsoft.com/office/drawing/2016/SVG/main" r:embed="R69d98b2818314a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221F4-76F4-48C3-86E5-5F4B886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99AB0-0310-4D0F-91A8-299AEFEB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15CC2-E7C3-44BF-B7D8-72FFB8B3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9CCF1-D623-439B-AA2E-9332B26C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 Caption Framing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Line graph: screen time rises during exam week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Graph Caption Framing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Caption contrast: 'Students lose balance during exams'...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3A343-5925-4A20-BB1C-4529C3FB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B823ED-F402-41F0-9D68-45C607F2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C61B6-B1CF-4AE5-8175-900509F1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08690F-F813-47A1-920A-EE676875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Graph Caption Framing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Graph Caption Framing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9862184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8AF29-EC8E-41D7-8818-B1C4FAD5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DDAF5-F166-41B8-BC55-FE40C20E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78033-5EDC-4464-861A-DEE1D1AD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22CBC-D13A-4944-AC8F-BA307889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FA857-089D-4154-92AE-65CB750E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3C257-77BC-41A3-A163-5B773996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5B854-A349-4489-BA40-3E01B68B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A3D0F-011F-45A7-AAD2-30826846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52678-8D0C-439B-BEEB-648A913A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08C9D-B6FE-4D9F-8C4E-823AA299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34DAC-C64F-4123-A129-6963B05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A938D-F813-4F42-B7DE-0FB53BD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the graph without title or caption and ask students what it might show.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write captions in assigned framing styles.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compare how each caption changes interpretation and trust.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identify what extra context the graph needs.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the difference between data, interpretation, and persuasion.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71366-4F43-4425-9237-6D41D4A7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7015217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9317A-39C0-4E79-9AB9-D5FD4896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F3835-40E1-4B21-9790-8E42F0A9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A8DDE-B1A3-4D12-98F8-C1B86EC2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D58EA-43C8-4646-AD62-5787AFB5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1E3BD-536A-4104-805C-BC007D11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7069C-79C1-4193-9507-DA0C028A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96257-888A-455A-A7F4-5BA08EC5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AD179-C51A-48A2-A42A-57B11201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D3039-556F-41B9-B40E-04C9B53C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7FAEA-2D1B-43FF-92EE-D070CFAA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10C13-6396-4222-B64B-CDA5AA3E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DAA4C-DEB6-42FD-A789-E56EB2BE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AA69E-288B-4AA5-BBC0-EFA77E66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B70E3-F946-492D-BD78-5A3CA028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BDE27-2922-408B-B199-EEA0DD22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D3594-C4D8-489A-94B3-78C56B82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ABF7E-C653-4536-AEA6-99CBC4D6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9CF9B-23DB-4696-8722-9025A78A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2E2F4-0BEB-47E6-95AF-72324B6B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E6149E-32A6-4582-9B05-5EBDC206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022721-6FF7-4E04-986C-C338A822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9E284-0649-4B21-8663-959955DF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5C45E-CA80-44C7-A9B8-8180FD7F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467F46-BB9A-429E-9979-2080E9B9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4BC40-26E9-4C61-9748-9B292229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90DBD6-7731-46FF-90F6-F4ABFB48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E05F95-9CB4-44AA-8DB5-A45E7809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19CD4E-4B3E-4991-BACE-BCC80692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6018823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E25EE9-1FDF-4C40-8444-754CED65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BC1B1-3B41-4F4F-A222-55A064AF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D2A8E-6FDB-4DCF-8E1F-76670EC6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961E8-0267-4949-A038-DB0B4157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36CEF-96B7-40F2-A2A3-03D4DC32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9CED9-4B5A-4281-80B7-69DD5818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823A5-2AF4-42BF-B9CB-055D46E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B4D94-9AE7-472C-991B-E324B007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31751-08D4-4A25-888B-D0D9C41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54C16-AA80-41E8-BF1A-C63CE78B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FD97C-3F98-4DE9-A631-31A4161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76210-7BBA-42DF-ADAC-65F11BEC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does a caption become part of the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accurate language still mislead?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responsibility do communicators have when turning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data into claims?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73DE2-9271-4637-ABDF-E8527390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9CE4E-7E4F-4E9D-8E1C-458375E0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062E2-8DA5-4651-9C4F-3FEE5A02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AD811-74B9-4F27-BB3F-CE9587AF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language become part of evidence?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accurate data be framed misleadingly?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 public knowledge claim responsible?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4381E-81FF-4806-A6BC-FBD0BB0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9488128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6A09B1-876F-41D1-ACB0-78CA4A48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E971B-B6FA-4F8E-BB3C-20DA7F22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537B4-06CB-4CAF-A839-855EBBB4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C87DB-EF75-4AE6-BFF5-058AB547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D5B98-9BB4-4F56-9A67-5C3277ED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53858-D30F-4ADB-ACBB-857A22B8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B0D1F-9B4C-4822-BA63-EE31F5E5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FB79C-BBFD-417A-8A14-95D5B765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07F87-5399-475E-B848-1520EEAB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42C07-1F0A-41CF-AA12-1173D38D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01D5E-8F76-4F41-AB37-D9BCEA7B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FE5D4-A189-4CD4-B62E-848A02F4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Our caption was technically true but made the trend sound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more permanent than it was.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Changing the title changed which part of the graph seemed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important.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65E95-72B7-4830-B0B3-6387A127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D3F44-80CE-498A-867A-AEDB81D4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96D37-A97D-425B-9612-DE185BB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0D43C-5DCE-4367-B304-81C8882F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rewrite a real graph caption to make it more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cautious and transparent.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graph captions to headlines and public policy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claims.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21e9cf853438c">
            <a:extLst>
              <a:ext uri="{96DAC541-7B7A-43D3-8B79-37D633B846F1}">
                <asvg:svgBlip xmlns:asvg="http://schemas.microsoft.com/office/drawing/2016/SVG/main" r:embed="R220752282bdb46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783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134071-2AE3-4C93-8A14-3C39649C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90DEE-B2C6-4874-A191-E29403D2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51C36-D982-41BE-B647-06429EC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7CE50-E785-4D18-A776-C207C21F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B1E4-3C49-4256-AA85-F89AB645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876B6-10C5-4511-B1B6-3C0EBA18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Language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5C38C-A0C0-4541-BBC0-E2AC67F1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57A44-9B66-4DE6-9042-DDDD775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67FAA-1179-4571-B4A2-777EECC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81347-2576-43B2-952D-0A40447E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80377-3417-4BED-A649-9A86E4EE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6828C-C7F0-4E0A-BF9F-0AA5BD13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same graph with two contrasting captions placed side by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1180C-8D39-4FE6-8F99-57A89BDC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C8159-E276-4826-8C5D-2679578C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7FB1B-07CA-4FC2-82D7-08DD0D2D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CC7B7-AF23-4319-8C10-3E85CB14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DB669-16D1-4A4E-832C-8010147B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FF59E-2462-4023-934D-32E806C3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B1CE7-C0C6-419F-826E-6A720E13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74C7D-F852-4C61-BDAF-FD48B9CC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Loaded Headline Laboratory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F33EB-ECDC-425E-91F4-21481475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457318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2026-06-20T10:31:38.4010000Z</dcterms:created>
  <dcterms:modified xsi:type="dcterms:W3CDTF">2026-06-20T10:31:38.4010000Z</dcterms:modified>
</coreProperties>
</file>