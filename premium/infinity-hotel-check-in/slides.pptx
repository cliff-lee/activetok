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998e9fa76143dc" /><Relationship Type="http://schemas.openxmlformats.org/officeDocument/2006/relationships/extended-properties" Target="/docProps/app.xml" Id="R841f7504594848ce" /><Relationship Type="http://schemas.openxmlformats.org/officeDocument/2006/relationships/officeDocument" Target="/ppt/presentation.xml" Id="Rdf8d76c7570a4c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0e1be82d8d4719"/>
  </p:sldMasterIdLst>
  <p:notesMasterIdLst>
    <p:notesMasterId xmlns:r="http://schemas.openxmlformats.org/officeDocument/2006/relationships" r:id="R423523dd2e344c09"/>
  </p:notesMasterIdLst>
  <p:sldIdLst>
    <p:sldId xmlns:r="http://schemas.openxmlformats.org/officeDocument/2006/relationships" id="256" r:id="R743d958d8cc64ec3"/>
    <p:sldId xmlns:r="http://schemas.openxmlformats.org/officeDocument/2006/relationships" id="257" r:id="Rc445500096ba414a"/>
    <p:sldId xmlns:r="http://schemas.openxmlformats.org/officeDocument/2006/relationships" id="258" r:id="Rd48fbc5ee076445b"/>
    <p:sldId xmlns:r="http://schemas.openxmlformats.org/officeDocument/2006/relationships" id="259" r:id="Rbce232ad5c904e51"/>
    <p:sldId xmlns:r="http://schemas.openxmlformats.org/officeDocument/2006/relationships" id="260" r:id="R8618d915c06c4866"/>
    <p:sldId xmlns:r="http://schemas.openxmlformats.org/officeDocument/2006/relationships" id="261" r:id="R690fd6ee821347d6"/>
    <p:sldId xmlns:r="http://schemas.openxmlformats.org/officeDocument/2006/relationships" id="262" r:id="R05e0dc9964614055"/>
    <p:sldId xmlns:r="http://schemas.openxmlformats.org/officeDocument/2006/relationships" id="263" r:id="R4419b89db9d647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311fc99276489d" /><Relationship Type="http://schemas.openxmlformats.org/officeDocument/2006/relationships/slideMaster" Target="/ppt/slideMasters/slideMaster1.xml" Id="Rf40e1be82d8d4719" /><Relationship Type="http://schemas.openxmlformats.org/officeDocument/2006/relationships/notesMaster" Target="/ppt/notesMasters/notesMaster1.xml" Id="R423523dd2e344c09" /><Relationship Type="http://schemas.openxmlformats.org/officeDocument/2006/relationships/presProps" Target="/ppt/presProps.xml" Id="R5416f4b537e947f7" /><Relationship Type="http://schemas.openxmlformats.org/officeDocument/2006/relationships/tableStyles" Target="/ppt/tableStyles.xml" Id="R91220df782854d87" /><Relationship Type="http://schemas.openxmlformats.org/officeDocument/2006/relationships/slide" Target="/ppt/slides/slide1.xml" Id="R743d958d8cc64ec3" /><Relationship Type="http://schemas.openxmlformats.org/officeDocument/2006/relationships/slide" Target="/ppt/slides/slide2.xml" Id="Rc445500096ba414a" /><Relationship Type="http://schemas.openxmlformats.org/officeDocument/2006/relationships/slide" Target="/ppt/slides/slide3.xml" Id="Rd48fbc5ee076445b" /><Relationship Type="http://schemas.openxmlformats.org/officeDocument/2006/relationships/slide" Target="/ppt/slides/slide4.xml" Id="Rbce232ad5c904e51" /><Relationship Type="http://schemas.openxmlformats.org/officeDocument/2006/relationships/slide" Target="/ppt/slides/slide5.xml" Id="R8618d915c06c4866" /><Relationship Type="http://schemas.openxmlformats.org/officeDocument/2006/relationships/slide" Target="/ppt/slides/slide6.xml" Id="R690fd6ee821347d6" /><Relationship Type="http://schemas.openxmlformats.org/officeDocument/2006/relationships/slide" Target="/ppt/slides/slide7.xml" Id="R05e0dc9964614055" /><Relationship Type="http://schemas.openxmlformats.org/officeDocument/2006/relationships/slide" Target="/ppt/slides/slide8.xml" Id="R4419b89db9d647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0741a9dee343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bc3bb24d9c4f9d" /><Relationship Type="http://schemas.openxmlformats.org/officeDocument/2006/relationships/notesMaster" Target="/ppt/notesMasters/notesMaster1.xml" Id="R597853453cc948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4f5bc2fa074ad3" /><Relationship Type="http://schemas.openxmlformats.org/officeDocument/2006/relationships/notesMaster" Target="/ppt/notesMasters/notesMaster1.xml" Id="R8afab42db34143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9db9475dfb457b" /><Relationship Type="http://schemas.openxmlformats.org/officeDocument/2006/relationships/notesMaster" Target="/ppt/notesMasters/notesMaster1.xml" Id="Rf178bc0574ec4c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2f68e0e25f4152" /><Relationship Type="http://schemas.openxmlformats.org/officeDocument/2006/relationships/notesMaster" Target="/ppt/notesMasters/notesMaster1.xml" Id="Rfb2a26f6190348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3c99081f0f4fe3" /><Relationship Type="http://schemas.openxmlformats.org/officeDocument/2006/relationships/notesMaster" Target="/ppt/notesMasters/notesMaster1.xml" Id="R630996946f0f47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8a603265b24430" /><Relationship Type="http://schemas.openxmlformats.org/officeDocument/2006/relationships/notesMaster" Target="/ppt/notesMasters/notesMaster1.xml" Id="Rb75935859c2f44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7cd8e9c6314a83" /><Relationship Type="http://schemas.openxmlformats.org/officeDocument/2006/relationships/notesMaster" Target="/ppt/notesMasters/notesMaster1.xml" Id="R4ffa40c25f334f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01963ae2254f6b" /><Relationship Type="http://schemas.openxmlformats.org/officeDocument/2006/relationships/notesMaster" Target="/ppt/notesMasters/notesMaster1.xml" Id="R881f6b34e40047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24031a55be4d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2edfe050d84604" /><Relationship Type="http://schemas.openxmlformats.org/officeDocument/2006/relationships/slideLayout" Target="/ppt/slideLayouts/slideLayout1.xml" Id="R909ba249062246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9ba249062246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442ced0444864" /><Relationship Type="http://schemas.openxmlformats.org/officeDocument/2006/relationships/image" Target="/ppt/media/image.png" Id="Re412ef0d4d6d4e55" /><Relationship Type="http://schemas.openxmlformats.org/officeDocument/2006/relationships/image" Target="/ppt/media/image.svg" Id="Rfbbb8074ed2b4562" /><Relationship Type="http://schemas.openxmlformats.org/officeDocument/2006/relationships/notesSlide" Target="/ppt/notesSlides/notesSlide1.xml" Id="R3e4d55b8e41f49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d2ebe0cb14c1d" /><Relationship Type="http://schemas.openxmlformats.org/officeDocument/2006/relationships/notesSlide" Target="/ppt/notesSlides/notesSlide2.xml" Id="R7a82214720154e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8294faa6d4ac4" /><Relationship Type="http://schemas.openxmlformats.org/officeDocument/2006/relationships/image" Target="/ppt/media/image2.png" Id="R54f85d73e61c4c08" /><Relationship Type="http://schemas.openxmlformats.org/officeDocument/2006/relationships/image" Target="/ppt/media/image2.svg" Id="R288232bc48b4464c" /><Relationship Type="http://schemas.openxmlformats.org/officeDocument/2006/relationships/notesSlide" Target="/ppt/notesSlides/notesSlide3.xml" Id="R76da0b4ca1a14a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d692bbdb54c6d" /><Relationship Type="http://schemas.openxmlformats.org/officeDocument/2006/relationships/notesSlide" Target="/ppt/notesSlides/notesSlide4.xml" Id="R1f354f623b3145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b6982e83046a9" /><Relationship Type="http://schemas.openxmlformats.org/officeDocument/2006/relationships/notesSlide" Target="/ppt/notesSlides/notesSlide5.xml" Id="R4bf9cad97e0849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f6a72515c4c1b" /><Relationship Type="http://schemas.openxmlformats.org/officeDocument/2006/relationships/notesSlide" Target="/ppt/notesSlides/notesSlide6.xml" Id="R7e46372e8d8c44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43d058a3847a2" /><Relationship Type="http://schemas.openxmlformats.org/officeDocument/2006/relationships/image" Target="/ppt/media/image3.png" Id="R6253c1ac200940f4" /><Relationship Type="http://schemas.openxmlformats.org/officeDocument/2006/relationships/image" Target="/ppt/media/image3.svg" Id="R74002cd4e0974c29" /><Relationship Type="http://schemas.openxmlformats.org/officeDocument/2006/relationships/notesSlide" Target="/ppt/notesSlides/notesSlide7.xml" Id="R8591edae8e854e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5b3d0e1904b0e" /><Relationship Type="http://schemas.openxmlformats.org/officeDocument/2006/relationships/notesSlide" Target="/ppt/notesSlides/notesSlide8.xml" Id="R3457a9131f944d5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A2B58A-B173-478C-90C1-A69EC0C9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EEDA8-1088-4A89-ABC5-A9623EED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1D789-6F44-4328-B5C5-4784F3FA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4E3DE-69DE-4C76-97E0-B2DA2FF1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C3A45-EC5C-42B7-8287-76B875F0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5CA3E-17D0-4675-A111-049FF4C6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42A3E-E1B7-4228-BB8D-191E891E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Infinity Hotel Check-In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19833-9800-488C-9680-1FBA481C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2ef0d4d6d4e55">
            <a:extLst>
              <a:ext uri="{96DAC541-7B7A-43D3-8B79-37D633B846F1}">
                <asvg:svgBlip xmlns:asvg="http://schemas.microsoft.com/office/drawing/2016/SVG/main" r:embed="Rfbbb8074ed2b45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A5A68-8A74-494B-B2FC-B9F702EE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05E6E-D76E-4F6D-925A-8E09DF45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603EF-2604-4811-A6D5-9180A1D2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C29F46-CF5C-4BED-BF7B-C104F683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Mathematical concepts can be coherent even when they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violate ordinary experience.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D7EDE-6314-4465-AE2B-3BADCF48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085FFC-DAB4-4A52-9C99-7BDE6D7C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8FD9E-B519-4B50-876D-217E8171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A6544-CC1C-45BE-A5F5-7461F6FA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25-35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4333047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5AB09B-2DFB-4CC7-A197-A30FE7E8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FA34C-6D4E-4A87-883F-7D1123F3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7E559-9472-4983-841B-39C20EEA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D8C93-687C-413F-96CA-EA1B788F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0BF53-B4EE-4474-8928-CFA92413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89199-71B5-48FF-9E9E-052F9F27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5D7A7-16CA-41D4-95BC-E6EEC586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0BD14-C45D-432C-BF95-238A928A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8DF8D-8C0F-4620-9BFE-7C897A66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257CE-7404-457C-9EAD-50E40F9D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E9FBF9-E842-45BD-9AC3-66F81B71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4EA2C-E29B-48D5-BDE8-4BBB774B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distinguish intuitive plausibility from formal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mathematical coherence.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Mathematical concepts can be coherent even when they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violate ordinary experience.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8E363-A7C1-4C21-AF05-358E3181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3CFFA-CB68-41B7-9EDB-1D21C86C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11F13-4740-4254-8207-D2063451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E72A4-D7AA-4796-A7C2-C9D2D8D1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Numbered room cards.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Guest cards.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Room card set and move-rule card.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Reflection sheet: what felt impossible, what the rule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showed, and what the model assumes.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17222-9AB0-4D15-BB10-798E0371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4000992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2273E1-A6DB-48FF-97B2-D873F2DE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8083E-3F7D-4E67-B302-E384F7D7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7E339-EE2F-4044-B013-7B49E01F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5F377-DCF0-4B47-B229-DD6E4987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AA2A8-F93E-4175-BBEF-8A970D05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45341-61DE-48F2-9C25-77D9323D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4EC1F-F4AB-485E-AD03-7610F86D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DFDA7-B7FA-433B-A097-212A5103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85d73e61c4c08">
            <a:extLst>
              <a:ext uri="{96DAC541-7B7A-43D3-8B79-37D633B846F1}">
                <asvg:svgBlip xmlns:asvg="http://schemas.microsoft.com/office/drawing/2016/SVG/main" r:embed="R288232bc48b446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3909C-3D01-4E8F-AC71-1209D4F7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DAC14-636F-471B-A81C-B2E747EF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9F166-20A9-4D38-944D-D2F585FF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65519-6860-4DD2-B78D-1E9090D7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Infinity Hotel Check-In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One new guest arrives at a full infinite...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Infinity Hotel Check-In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Claim card: ∞ + 1 = ∞ feels impossible until...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79B026-3947-4901-8052-78345A0A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FFE61-94C4-4A96-A18D-A936BCBC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28C784-2682-4C99-8A26-F2FC5407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A208E5-EDEF-4AE1-AE2F-04DCD26D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Infinity Hotel Check-In Stimulus A, what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Infinity Hotel Check-In Stimulus A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9256514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FC720F-257E-4E9D-A4D0-1912CF07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70723-903D-498A-9834-2A971D29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E6C66-3EE8-4B9E-B423-DC85CBB2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6DEB9-9263-4630-8C82-12FFB144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D0766-B437-4AA6-97D1-F53A41B6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721D9-94AF-4EF4-830E-6F414F8F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1573E-70B2-4526-AD81-DC8AE827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A9B78-8F5A-488F-B295-BF23ED4C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4CF26-5CB4-4ACD-B81B-D15DAA4F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3C442-384D-4927-BC14-50893851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65C55-F8A8-4E49-9FBA-98B5954D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F010E-2DF3-4EEA-BA4F-EAF39A0B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Assign students numbered hotel rooms and announce that every room is occupied.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Introduce one new guest and ask whether the hotel can make room.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Use the rule n → n + 1 so each guest moves to the next room.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Discuss why the model works for countably infinite rooms but not for a finite hotel.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the difference between everyday imagination and formal definition.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12A71-C209-4A7C-BF36-1CCB2EF5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Mathemat...</a:t>
            </a:r>
          </a:p>
        </p:txBody>
      </p:sp>
    </p:spTree>
    <p:extLst>
      <p:ext uri="{BB962C8B-B14F-4D97-AF65-F5344CB8AC3E}">
        <p14:creationId xmlns:p14="http://schemas.microsoft.com/office/powerpoint/2010/main" val="15981747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2E186D-F2E4-4A9E-9D1F-EC276E4A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A8A65-EC21-46CB-B2EB-0F1D4E9D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DA129-C20F-4376-BE6D-B6BA1C44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24940-DD15-4DB8-B86A-BC77AAE2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7288E-8D80-44E0-BB7C-B2F09D23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63C91-9A0A-4BAD-8FEA-8C3B2A0C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58954-2B3F-4526-AECB-42494FA0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42A7F-A6C4-434C-B7AD-0F6E91B6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33ED0-9712-4ECB-A5F1-3B575D0B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7D396-2721-4194-88C3-A1A9D346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A036C-A5B6-4826-9BBF-A766D228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6372E-B403-43C3-A89B-A81E2B64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D0FD8-8EE6-419F-9013-1B62AB15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5BFDD-8200-42EE-ACE3-92E0F71D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17A30-BE2D-4533-ABB0-00DE8556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F7C2D-9A78-446D-9CA3-5308E919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42674-5CE6-475E-95AA-2EB1536E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B83AF-F52D-4617-85CF-720DC25C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68CEA9-B262-402B-B958-AE44DF47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FE0FAE-6DC0-4421-9EF0-F9679C62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505745-BD64-425B-905B-29F25EAC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C303AE-9588-4F95-B6BD-DF75060A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2DCE1A-B52A-48A2-8066-CBE4A54A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758864-CE63-4E55-9333-C205AD74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5AD980-F4A3-4135-86EE-26387C1E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250B12-8295-4807-A13F-2F2AEAFE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0CD8FD-2EF3-4B08-9C08-045928B3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0F8A6E-E5E4-4D49-916D-CD5DBA32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866718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BAF4A2-9F4D-4321-94B2-03FDF6F1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1A224-3159-4D22-902B-61AAF179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B40D5-A674-4896-A56B-CC32EB3C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BB6E9-9243-43BD-9F58-037067C3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2219A-7285-4925-BDC2-193DFBBE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63B49-A3EF-421A-8E79-209CF1F0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52EF4-85AD-48E2-ACD1-0F0426ED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3ED9D-B0F6-4770-A408-BB6F6DBC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F4B27-399C-46F3-86F0-B6B45368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B0E99-71B2-455C-8E9D-8E30065F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3C6A5-D51B-41F2-BA4B-B1E6E5BA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9A18D-AA25-492B-A35E-21D9413E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Can mathematics produce knowledge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about things we cannot imagine concretely?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Why can a coherent formal system feel impossible?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is the role of intuition in mathematical knowledge?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75539-0455-4887-AF86-F004D1D1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6CEDF-8A70-403F-805A-39082058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9DFA56-A8F7-4A4D-B7B8-20A2D9F0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449597-0E1F-4C18-925E-BC6373E9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mathematics know beyond intuition?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makes a mathematical object meaningful?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should intuition be trusted in mathematics?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1AAC44-91D3-4E8A-A1D0-ABCDD4E9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3832394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283C13-ACF5-46BF-8D36-8FE17A6B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29AFA-2F2B-446C-80BC-99F971FE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06224-FD70-41D2-AC0F-4D159661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323BE-C839-413C-BCC4-782FC5D4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D4309-24FB-40CC-B738-248609CB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235D7-DFEA-4DE0-BBF3-C36B56B2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BA7F8-056A-4B95-B397-9919018D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A9CDF-3DE3-432B-9583-D5606287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85A30-F289-40D1-8343-0061AAF9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7343B-7F57-42AC-A0F7-65B4E363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F2792-E711-40FB-BBE9-90BC922D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F6A20-7C35-4769-96C4-991480BF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model was coherent even though I could not picture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whole hotel.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 learned that mathematical possibility can depend on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definitions rather than physical imagination.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A39CF-7B42-48B8-9D8E-6BD52859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EA994-9E51-4BFA-BDB1-E631DEC2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40EF5C-13F3-47FF-8197-D6E9C320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4AEEB-7D80-4519-A6E8-B83EDBC1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Compare countable infinity with a finite hotel and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identify exactly where the rule fails.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Ask whether mathematical objects need real-world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counterparts to produce knowledge.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53c1ac200940f4">
            <a:extLst>
              <a:ext uri="{96DAC541-7B7A-43D3-8B79-37D633B846F1}">
                <asvg:svgBlip xmlns:asvg="http://schemas.microsoft.com/office/drawing/2016/SVG/main" r:embed="R74002cd4e0974c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842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180255-4631-43D0-8CD3-96BEC27F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0AAF7-5E0A-47B4-BCBF-2859D8C2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77317-8592-4B53-8A00-1EBEBA28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7627A-8565-4FA7-B9AD-76E43762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2D371-EBB2-4437-84D5-3E4A3650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79237-2510-4F8D-888E-F51B60B0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034EC-7930-4AD5-90F4-12B9E381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B7A60-D97E-4A6E-A6C4-8447719C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2EBAB-31D7-42B0-8CCF-2C5EB885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ADB60-A50F-483B-AC1F-8D18BA9A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ED5D3-03F0-43BB-B677-1E2EF1FB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4730B-8012-4CF7-99DF-E98E8B6C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numbered room card sequence illustrating the move rule n →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n + 1.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AD95A-2C3F-441E-8E70-5EEA86E9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1A047-ACAF-40F5-AD21-5F422062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8A255-34C6-447D-8211-E75A0ED2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B56E7B-CEA6-4E09-9F76-4F8DAEA2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914C01-CDA3-4985-ABC8-82C4DD15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EF124-96F2-454C-A24F-766C61E4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80AFF5-ABC9-4828-BC3F-CF7DFB24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C25A53-601A-4755-BE72-AD5C7FDB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Axiom Switch Universe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Proof versus Pattern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Certainty Thermometer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C9BEE7-4382-4284-9DF1-5AB5BB5E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1746074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2026-06-20T10:31:41.7840000Z</dcterms:created>
  <dcterms:modified xsi:type="dcterms:W3CDTF">2026-06-20T10:31:41.7840000Z</dcterms:modified>
</coreProperties>
</file>