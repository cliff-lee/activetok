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32df6e5d93457c" /><Relationship Type="http://schemas.openxmlformats.org/officeDocument/2006/relationships/extended-properties" Target="/docProps/app.xml" Id="R5cdbbc8254e54685" /><Relationship Type="http://schemas.openxmlformats.org/officeDocument/2006/relationships/officeDocument" Target="/ppt/presentation.xml" Id="R1b57d02c3eb441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3b2f88bb5443ae"/>
  </p:sldMasterIdLst>
  <p:notesMasterIdLst>
    <p:notesMasterId xmlns:r="http://schemas.openxmlformats.org/officeDocument/2006/relationships" r:id="R55243f07854c4416"/>
  </p:notesMasterIdLst>
  <p:sldIdLst>
    <p:sldId xmlns:r="http://schemas.openxmlformats.org/officeDocument/2006/relationships" id="256" r:id="R13c54fa3a1c949e3"/>
    <p:sldId xmlns:r="http://schemas.openxmlformats.org/officeDocument/2006/relationships" id="257" r:id="R31037d2f4aaf4084"/>
    <p:sldId xmlns:r="http://schemas.openxmlformats.org/officeDocument/2006/relationships" id="258" r:id="R5d12159c9b584c10"/>
    <p:sldId xmlns:r="http://schemas.openxmlformats.org/officeDocument/2006/relationships" id="259" r:id="R358a996a113347b7"/>
    <p:sldId xmlns:r="http://schemas.openxmlformats.org/officeDocument/2006/relationships" id="260" r:id="R0854bbca89f44472"/>
    <p:sldId xmlns:r="http://schemas.openxmlformats.org/officeDocument/2006/relationships" id="261" r:id="R5f24519247ef4f0e"/>
    <p:sldId xmlns:r="http://schemas.openxmlformats.org/officeDocument/2006/relationships" id="262" r:id="R737964d6d1864282"/>
    <p:sldId xmlns:r="http://schemas.openxmlformats.org/officeDocument/2006/relationships" id="263" r:id="Reca39307c0b14b7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3ceb835cc74ba7" /><Relationship Type="http://schemas.openxmlformats.org/officeDocument/2006/relationships/slideMaster" Target="/ppt/slideMasters/slideMaster1.xml" Id="R9a3b2f88bb5443ae" /><Relationship Type="http://schemas.openxmlformats.org/officeDocument/2006/relationships/notesMaster" Target="/ppt/notesMasters/notesMaster1.xml" Id="R55243f07854c4416" /><Relationship Type="http://schemas.openxmlformats.org/officeDocument/2006/relationships/presProps" Target="/ppt/presProps.xml" Id="Re776873c570141a5" /><Relationship Type="http://schemas.openxmlformats.org/officeDocument/2006/relationships/tableStyles" Target="/ppt/tableStyles.xml" Id="R03ba1a08b3044677" /><Relationship Type="http://schemas.openxmlformats.org/officeDocument/2006/relationships/slide" Target="/ppt/slides/slide1.xml" Id="R13c54fa3a1c949e3" /><Relationship Type="http://schemas.openxmlformats.org/officeDocument/2006/relationships/slide" Target="/ppt/slides/slide2.xml" Id="R31037d2f4aaf4084" /><Relationship Type="http://schemas.openxmlformats.org/officeDocument/2006/relationships/slide" Target="/ppt/slides/slide3.xml" Id="R5d12159c9b584c10" /><Relationship Type="http://schemas.openxmlformats.org/officeDocument/2006/relationships/slide" Target="/ppt/slides/slide4.xml" Id="R358a996a113347b7" /><Relationship Type="http://schemas.openxmlformats.org/officeDocument/2006/relationships/slide" Target="/ppt/slides/slide5.xml" Id="R0854bbca89f44472" /><Relationship Type="http://schemas.openxmlformats.org/officeDocument/2006/relationships/slide" Target="/ppt/slides/slide6.xml" Id="R5f24519247ef4f0e" /><Relationship Type="http://schemas.openxmlformats.org/officeDocument/2006/relationships/slide" Target="/ppt/slides/slide7.xml" Id="R737964d6d1864282" /><Relationship Type="http://schemas.openxmlformats.org/officeDocument/2006/relationships/slide" Target="/ppt/slides/slide8.xml" Id="Reca39307c0b14b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a29f8f52134c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a37727f0754e68" /><Relationship Type="http://schemas.openxmlformats.org/officeDocument/2006/relationships/notesMaster" Target="/ppt/notesMasters/notesMaster1.xml" Id="Rb3b531c4e18b4b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234eb9a20c4684" /><Relationship Type="http://schemas.openxmlformats.org/officeDocument/2006/relationships/notesMaster" Target="/ppt/notesMasters/notesMaster1.xml" Id="R325d5780f4dc4a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77fc9cb29445ef" /><Relationship Type="http://schemas.openxmlformats.org/officeDocument/2006/relationships/notesMaster" Target="/ppt/notesMasters/notesMaster1.xml" Id="R6b9fa247b1ae40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1cc9a02ecf442e" /><Relationship Type="http://schemas.openxmlformats.org/officeDocument/2006/relationships/notesMaster" Target="/ppt/notesMasters/notesMaster1.xml" Id="R515bd6ccc51a43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5ab1220316461a" /><Relationship Type="http://schemas.openxmlformats.org/officeDocument/2006/relationships/notesMaster" Target="/ppt/notesMasters/notesMaster1.xml" Id="R36c1275e662a4e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420e058c4543d5" /><Relationship Type="http://schemas.openxmlformats.org/officeDocument/2006/relationships/notesMaster" Target="/ppt/notesMasters/notesMaster1.xml" Id="R40b2296da0ca44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7fe5046b654b8f" /><Relationship Type="http://schemas.openxmlformats.org/officeDocument/2006/relationships/notesMaster" Target="/ppt/notesMasters/notesMaster1.xml" Id="R7332a0eee8ad42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73ec1af15c474e" /><Relationship Type="http://schemas.openxmlformats.org/officeDocument/2006/relationships/notesMaster" Target="/ppt/notesMasters/notesMaster1.xml" Id="Rcb678c6f29224c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c4a3b1758844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feca5259d64bb6" /><Relationship Type="http://schemas.openxmlformats.org/officeDocument/2006/relationships/slideLayout" Target="/ppt/slideLayouts/slideLayout1.xml" Id="R782250326e8845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2250326e8845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2a75a242854170" /><Relationship Type="http://schemas.openxmlformats.org/officeDocument/2006/relationships/image" Target="/ppt/media/image.png" Id="R66fa538a00024a0d" /><Relationship Type="http://schemas.openxmlformats.org/officeDocument/2006/relationships/image" Target="/ppt/media/image.svg" Id="R63a2fcf2c0b645ba" /><Relationship Type="http://schemas.openxmlformats.org/officeDocument/2006/relationships/notesSlide" Target="/ppt/notesSlides/notesSlide1.xml" Id="R291235d115cb42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dca0a20174b62" /><Relationship Type="http://schemas.openxmlformats.org/officeDocument/2006/relationships/notesSlide" Target="/ppt/notesSlides/notesSlide2.xml" Id="R142d8bd6b6e247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93326be9734685" /><Relationship Type="http://schemas.openxmlformats.org/officeDocument/2006/relationships/image" Target="/ppt/media/image2.png" Id="R4129e745da8a48d7" /><Relationship Type="http://schemas.openxmlformats.org/officeDocument/2006/relationships/image" Target="/ppt/media/image2.svg" Id="Rbf7df9de3f15486f" /><Relationship Type="http://schemas.openxmlformats.org/officeDocument/2006/relationships/notesSlide" Target="/ppt/notesSlides/notesSlide3.xml" Id="R245627acc3a24f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e7755f8c64ace" /><Relationship Type="http://schemas.openxmlformats.org/officeDocument/2006/relationships/notesSlide" Target="/ppt/notesSlides/notesSlide4.xml" Id="Rf83f5cecf01e47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d05f5681f4488" /><Relationship Type="http://schemas.openxmlformats.org/officeDocument/2006/relationships/notesSlide" Target="/ppt/notesSlides/notesSlide5.xml" Id="R0fedd9f329bc48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1b2c08ab714ae2" /><Relationship Type="http://schemas.openxmlformats.org/officeDocument/2006/relationships/notesSlide" Target="/ppt/notesSlides/notesSlide6.xml" Id="Rd1a5d624b7e843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af3bbc96b496b" /><Relationship Type="http://schemas.openxmlformats.org/officeDocument/2006/relationships/image" Target="/ppt/media/image3.png" Id="Rae6365a98a714c5b" /><Relationship Type="http://schemas.openxmlformats.org/officeDocument/2006/relationships/image" Target="/ppt/media/image3.svg" Id="R52404a7192134d10" /><Relationship Type="http://schemas.openxmlformats.org/officeDocument/2006/relationships/notesSlide" Target="/ppt/notesSlides/notesSlide7.xml" Id="R9e84f035a0004aa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b7ae8566341d7" /><Relationship Type="http://schemas.openxmlformats.org/officeDocument/2006/relationships/notesSlide" Target="/ppt/notesSlides/notesSlide8.xml" Id="R34b0ce2392b94c7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176FA1-B42F-465F-8F8B-B8117F16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2AE14-DDE7-4122-842C-D0538CE6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1779F-3E82-4B8C-A870-219F73E9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16A6C5-1932-4077-B1AD-9FAFB3B2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69EE7-A4FC-4534-8694-1C01443A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667C9C-8F36-4076-945F-B14A3EAA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D0BFBE-D91B-434D-9F37-94553467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Average Trap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05D724-61A8-4F17-A769-3EBCB123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fa538a00024a0d">
            <a:extLst>
              <a:ext uri="{96DAC541-7B7A-43D3-8B79-37D633B846F1}">
                <asvg:svgBlip xmlns:asvg="http://schemas.microsoft.com/office/drawing/2016/SVG/main" r:embed="R63a2fcf2c0b645b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E4E3B2-D929-4581-953D-D745E52D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F8DDE6-CEFC-45B5-9BF5-CD29EB99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B592F8-CF7D-44D3-8A7D-B2D6745D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31C73B-6FF3-4E06-923D-5123A306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An average is a choice of representation, not a neutral</a:t>
            </a:r>
          </a:p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summary of reality.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746EA4-011B-4860-A90B-E05933E6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BC2B8E-BB9C-471D-83BF-1C522C09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29B9A6-8019-4ED4-ACA2-780433B8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C551BA-7D81-41A1-BAA8-2E085210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25-35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Easy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200735100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27B766-990D-4250-B6C4-D0FD149B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C5F7FD-4A8E-4A82-8689-0DF0FCBC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F7A54-41D5-4886-BD8D-C7319846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D91CD-D540-474D-9F1B-FAD21122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8DD61-6B0A-463C-9AF7-D7F86206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E26C8C-6783-4642-BC57-4BBBDEAE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535BB-D0B7-45BC-AEB3-FAC36339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9F652E-41D0-48C8-BBB4-5A066E1F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D46770-CA59-46A1-9873-FB66BF25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BDD857-4928-415B-8FC2-814D25D6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0139F0-88D2-4C7D-8354-FCF262F5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C6A57F-45F8-4BD6-89B5-36F43CA4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distinguish different meanings of average and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connect each to a purpose.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An average is a choice of representation, not a neutral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summary of reality.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EE72E1-0DDA-47D6-B1B4-B7C7CA10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93B12D-8FA3-48EC-9783-7925B125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377493-CB26-45E0-9943-340FA160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68084D-DBD3-418B-A84C-145A44CA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Small datasets for incomes, screen time, revision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hours, or class scores.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Average card showing mean = Σx / n, median, and mode.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Average comparison sheet: mean, median, mode, purpose,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audience, and possible misuse.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Headline cards using each average to support a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different conclusion.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71A54C-4E15-4EC8-AEB7-F9552DB6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16128133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8B60BB-CF1D-444C-8D12-DF19ECA6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44EFA-8E1F-4C99-98DA-797F41B9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1AD02B-D6C6-4E67-B933-58B11CF5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4DDB49-1495-458E-982D-03F9C6EB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BDFC20-BA23-4756-8938-D5EF9358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9741AD-98E0-49C9-B4DE-D1EF9CB2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BE6F11-65FD-48B6-AF88-0CC76123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E22375-91D1-4D24-84EA-31C8C340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29e745da8a48d7">
            <a:extLst>
              <a:ext uri="{96DAC541-7B7A-43D3-8B79-37D633B846F1}">
                <asvg:svgBlip xmlns:asvg="http://schemas.microsoft.com/office/drawing/2016/SVG/main" r:embed="Rbf7df9de3f15486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14E9B6-A02F-4566-B4E8-273B167E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64FDB6-3015-4BE6-8752-18242FC5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749049-C294-4357-80F9-914F9B41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78ACC7-E594-4752-BC29-1F721965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Average Trap Stimulus A: Student-facing stimulus 1: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Revision hours: 1, 1, 2, 2, 3, 3, 18. Work the example,...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Average Trap Stimulus B: Student-facing stimulus 2: Screen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time claim: mean looks high, median looks moderate, mode...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3E1D13-5656-4BDB-9794-5BC78692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F4A354-18E4-490C-A10E-5598B46D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682692-04C3-4B3D-A583-B7690553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76D4B1-C1D7-42AB-AFF3-AB07F658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Average Trap Stimulus A, what is your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Average Trap Stimulus A did you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201664022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70A700-9E60-418D-A299-BB40EB3F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638B8-9C65-448B-B162-F5E95990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1AB09-6E75-40CF-A23A-9C093B70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421BD-9141-4A5B-A9E0-CBB3D2C9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E146B-F243-46C7-AE1D-EF15CB80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E8FF6-CE36-4C58-9C7C-C377516B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026680-8472-4BA0-A747-83AE29BD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153553-4B54-4DBF-9BAE-598EF3C4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60635D-EB11-4A8B-AD27-CF922E10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BD6F5-25D8-4423-A20C-A56A2930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5839DE-EDCB-4481-A290-472F0AC9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21AB83-A197-4C3C-A8AC-7E7F264A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Give students a skewed dataset and ask them to describe a typical value.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Groups calculate or identify the mean, median, and mode.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Students match each average to a possible headline or policy claim.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Groups decide which average is most responsible for the audience and purpose.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5. Debrief why one correct number can create a partial picture.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AA968-AFCF-469A-888C-6AB326BA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Mathemat...</a:t>
            </a:r>
          </a:p>
        </p:txBody>
      </p:sp>
    </p:spTree>
    <p:extLst>
      <p:ext uri="{BB962C8B-B14F-4D97-AF65-F5344CB8AC3E}">
        <p14:creationId xmlns:p14="http://schemas.microsoft.com/office/powerpoint/2010/main" val="195621628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44BAB9-59C1-4B08-A6DB-36721359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812A64-5252-46AB-BC40-E7C683A5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C3C290-3C7A-429C-BE20-9A226F7C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7DA2B1-E977-4FAF-8F80-6B6DA881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467B96-C7A7-4EE9-B689-DD0B6566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07EBDF-F695-4E70-81DE-42522BCF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150A32-EF76-48C6-8D81-3E6A03C1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389111-8770-47B8-980D-849283E7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61E48D-ABBC-4C83-983B-C1E62545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0C5C05-ACD6-4722-856B-0B6C3EC7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093617-BF68-4779-93EF-15BF5DEB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FA4F6C-0F6C-492E-8F70-6C58DEFB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B67A52-CA95-41BC-B959-5413C618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C9E1E-FA1F-473E-91CA-B0DAC572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DB29F3-3434-4B0E-B6F8-0C2C707A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5B277F-BC39-4717-B366-206589D5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0E94E6-A46B-4468-AE61-48CBB526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0FA99A-CB77-40C8-9A44-0E0FA162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0B15E1-4F63-4140-8BF9-4FACC43A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360CDD-29AB-4271-9C20-EED23186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732154-80F5-4B17-9416-AF7F199D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157FC5-321A-46B3-B3FD-86329A3C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D0C02C-2F3C-4B61-B4B6-731D158A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FA1F33-5C58-49EA-B074-15F4D383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A1BEEC-433E-4EE9-BCEB-1546956F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06A940-C30E-4A8C-B4F0-A4F3EDFE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C24E88-CB5C-46AF-8437-D6BAD6C1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733FA6-45A4-42F5-A67D-954CB248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49494980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B5DDE1-F6FA-4723-9026-67D59A36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F842C-DECF-48FB-B218-4B4F5593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134E57-1133-4591-874E-C37927CA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49322-2BA2-4AB5-BA43-71F9BA28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A61E2B-5F55-4E0B-9286-475155FB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EE71E8-07FF-45C7-BF97-3EE8BD11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5C4A08-E391-4BB8-BA94-0894CB36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CBDF2-A4C6-41C9-B14B-BEAF4041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4BC549-BF54-4E16-9FD2-AF480F15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6D7A7F-ACA9-4799-B520-BB4B0240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55A49D-8818-48B5-979B-E64A6AE0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A89E03-17A0-4A23-BD2B-AFE0D777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When does a mathematical summary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become misleading?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Who decides which average is most relevant?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a number be accurate but unfair?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CE10FA-361E-415B-937A-EE349734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A1E4B8-50ED-4AD4-818B-96286B5C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6E27E5-F386-435D-9D0B-3982C038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711B91-CB1D-415C-B7F7-8CCF554E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does choosing a summary statistic shape knowledge?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makes a mathematical representation fair?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When is simplification necessary, and when is it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distortion?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A82F1F-F55E-42BD-90F4-D5EFD9B9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119941525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061482-FF8E-429D-BDCC-2D1EE767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0801E8-2028-461A-91D8-26CFB560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71A4A-51DE-423F-96C1-75389231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CF8D76-6613-44FF-80C2-533D946A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9977A3-30D0-49F4-B25A-0FA4A901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28A215-014E-4FFB-8D44-B89B5BB2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752729-F514-465F-9553-8FA9AC50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DB50B6-95A2-4E33-B731-901E26CF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B6FD64-6995-472B-AD70-A733FC36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92572E-0298-4C07-9C5B-E2904637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5369C0-D265-4BEE-B5A4-C3EA2B10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EDB221-6067-4890-977E-024FD51D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mean was mathematically correct but made most students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look unlike the typical case.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median was better for a typical value, but the mean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was useful for total resource planning.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C52CB1-AF2D-4C79-942A-121AE2E6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8BB037-6FC3-47FE-BD42-88988400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556631-ED2C-4924-AD96-1C50D50C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BB814A-F3DA-4E00-B26A-F36FD571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find a public average and ask whether mean,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median, or mode would be more responsible.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Compare average choice with graph scale choice.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6365a98a714c5b">
            <a:extLst>
              <a:ext uri="{96DAC541-7B7A-43D3-8B79-37D633B846F1}">
                <asvg:svgBlip xmlns:asvg="http://schemas.microsoft.com/office/drawing/2016/SVG/main" r:embed="R52404a7192134d1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5029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C8F03E-CFDA-43ED-B11E-3C4DFF61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E483B9-547A-4472-A48F-077C40D7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44B21-B1D7-4A7E-95AE-FDC939AC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86BDD5-1EE2-4234-A46D-FB1ADC43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60DBE8-49B0-4AFC-BBDA-86AB3C42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BBB72C-221C-4A54-928A-30D6995A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6B63F0-36EB-4C46-8A37-38566BDC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A30F9F-C600-4CD9-94BC-30D3349A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C6E69-AECF-4DDC-AAEC-70E1C04C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88BC07-BCAD-4656-86CF-8F72528E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339354-827C-458F-8BC2-164FC510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CAD656-A1F0-42BD-BD06-72E721C0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skewed dataset with mean, median, and mode labelled as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competing summaries.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F6FC9A-7DAA-4BC8-912D-C98D5644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1F27EF-432D-4896-9BAB-2D56CB33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E0931E-570F-4319-93C1-C5D4B170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A01B04-73D5-47F6-B56A-388E4103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8D162A-9487-4D0E-BAD0-FCB8EC53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F370BC-F09C-41C5-A334-D9E7C30C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A5B687-064F-44D2-964C-E22104D1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2DBAAA-1F45-458C-8507-90BD6F3C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Simpson's Paradox Shuffle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Log Scale Surprise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Graph Caption Framing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581871-EED3-45DC-9B4E-418591C5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978057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2026-06-20T10:31:41.6860000Z</dcterms:created>
  <dcterms:modified xsi:type="dcterms:W3CDTF">2026-06-20T10:31:41.6860000Z</dcterms:modified>
</coreProperties>
</file>