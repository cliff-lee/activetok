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7eb392fbe741e4" /><Relationship Type="http://schemas.openxmlformats.org/officeDocument/2006/relationships/extended-properties" Target="/docProps/app.xml" Id="Raade49f2865b4e28" /><Relationship Type="http://schemas.openxmlformats.org/officeDocument/2006/relationships/officeDocument" Target="/ppt/presentation.xml" Id="R300e40410d6346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68389cbcce42cb"/>
  </p:sldMasterIdLst>
  <p:notesMasterIdLst>
    <p:notesMasterId xmlns:r="http://schemas.openxmlformats.org/officeDocument/2006/relationships" r:id="R27297f1d1b80410a"/>
  </p:notesMasterIdLst>
  <p:sldIdLst>
    <p:sldId xmlns:r="http://schemas.openxmlformats.org/officeDocument/2006/relationships" id="256" r:id="R79cd687b7b9b4b45"/>
    <p:sldId xmlns:r="http://schemas.openxmlformats.org/officeDocument/2006/relationships" id="257" r:id="R51369056049747ee"/>
    <p:sldId xmlns:r="http://schemas.openxmlformats.org/officeDocument/2006/relationships" id="258" r:id="Ra83aaf77e8694db9"/>
    <p:sldId xmlns:r="http://schemas.openxmlformats.org/officeDocument/2006/relationships" id="259" r:id="R1d9f0ca01ff54c86"/>
    <p:sldId xmlns:r="http://schemas.openxmlformats.org/officeDocument/2006/relationships" id="260" r:id="R315df71929d84d21"/>
    <p:sldId xmlns:r="http://schemas.openxmlformats.org/officeDocument/2006/relationships" id="261" r:id="Re3654d75c2a54d37"/>
    <p:sldId xmlns:r="http://schemas.openxmlformats.org/officeDocument/2006/relationships" id="262" r:id="R1c1c6deb67ff439b"/>
    <p:sldId xmlns:r="http://schemas.openxmlformats.org/officeDocument/2006/relationships" id="263" r:id="Rd337a3095dfa43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fa125b28fd4950" /><Relationship Type="http://schemas.openxmlformats.org/officeDocument/2006/relationships/slideMaster" Target="/ppt/slideMasters/slideMaster1.xml" Id="R4b68389cbcce42cb" /><Relationship Type="http://schemas.openxmlformats.org/officeDocument/2006/relationships/notesMaster" Target="/ppt/notesMasters/notesMaster1.xml" Id="R27297f1d1b80410a" /><Relationship Type="http://schemas.openxmlformats.org/officeDocument/2006/relationships/presProps" Target="/ppt/presProps.xml" Id="R26b91f7304424c58" /><Relationship Type="http://schemas.openxmlformats.org/officeDocument/2006/relationships/tableStyles" Target="/ppt/tableStyles.xml" Id="R2236cb41f81a4860" /><Relationship Type="http://schemas.openxmlformats.org/officeDocument/2006/relationships/slide" Target="/ppt/slides/slide1.xml" Id="R79cd687b7b9b4b45" /><Relationship Type="http://schemas.openxmlformats.org/officeDocument/2006/relationships/slide" Target="/ppt/slides/slide2.xml" Id="R51369056049747ee" /><Relationship Type="http://schemas.openxmlformats.org/officeDocument/2006/relationships/slide" Target="/ppt/slides/slide3.xml" Id="Ra83aaf77e8694db9" /><Relationship Type="http://schemas.openxmlformats.org/officeDocument/2006/relationships/slide" Target="/ppt/slides/slide4.xml" Id="R1d9f0ca01ff54c86" /><Relationship Type="http://schemas.openxmlformats.org/officeDocument/2006/relationships/slide" Target="/ppt/slides/slide5.xml" Id="R315df71929d84d21" /><Relationship Type="http://schemas.openxmlformats.org/officeDocument/2006/relationships/slide" Target="/ppt/slides/slide6.xml" Id="Re3654d75c2a54d37" /><Relationship Type="http://schemas.openxmlformats.org/officeDocument/2006/relationships/slide" Target="/ppt/slides/slide7.xml" Id="R1c1c6deb67ff439b" /><Relationship Type="http://schemas.openxmlformats.org/officeDocument/2006/relationships/slide" Target="/ppt/slides/slide8.xml" Id="Rd337a3095dfa43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923728648d47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223d3a5eb0489e" /><Relationship Type="http://schemas.openxmlformats.org/officeDocument/2006/relationships/notesMaster" Target="/ppt/notesMasters/notesMaster1.xml" Id="Re4e396adfbb04b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0c10c8f29f4a5c" /><Relationship Type="http://schemas.openxmlformats.org/officeDocument/2006/relationships/notesMaster" Target="/ppt/notesMasters/notesMaster1.xml" Id="R73197e2333f141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e23f2fe617407e" /><Relationship Type="http://schemas.openxmlformats.org/officeDocument/2006/relationships/notesMaster" Target="/ppt/notesMasters/notesMaster1.xml" Id="Rb7cdbcbb5e3c4a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2a7aaf70d34289" /><Relationship Type="http://schemas.openxmlformats.org/officeDocument/2006/relationships/notesMaster" Target="/ppt/notesMasters/notesMaster1.xml" Id="R26d756d4fea942c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9768dccac34372" /><Relationship Type="http://schemas.openxmlformats.org/officeDocument/2006/relationships/notesMaster" Target="/ppt/notesMasters/notesMaster1.xml" Id="R5fa9a7bcdc0e46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ceb87a2b4c4b7c" /><Relationship Type="http://schemas.openxmlformats.org/officeDocument/2006/relationships/notesMaster" Target="/ppt/notesMasters/notesMaster1.xml" Id="R38ac1143808746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df11bf62a84762" /><Relationship Type="http://schemas.openxmlformats.org/officeDocument/2006/relationships/notesMaster" Target="/ppt/notesMasters/notesMaster1.xml" Id="R465aaacf539e41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28b2ab01e3408b" /><Relationship Type="http://schemas.openxmlformats.org/officeDocument/2006/relationships/notesMaster" Target="/ppt/notesMasters/notesMaster1.xml" Id="R4c11b2bb456d4f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c52a11bda4a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3453a937aa4474" /><Relationship Type="http://schemas.openxmlformats.org/officeDocument/2006/relationships/slideLayout" Target="/ppt/slideLayouts/slideLayout1.xml" Id="Rf0d8de76ec9d4f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d8de76ec9d4f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28da40cfb4b5e" /><Relationship Type="http://schemas.openxmlformats.org/officeDocument/2006/relationships/image" Target="/ppt/media/image.png" Id="R0e13ef5a420e4093" /><Relationship Type="http://schemas.openxmlformats.org/officeDocument/2006/relationships/image" Target="/ppt/media/image.svg" Id="R099ca95de9a44135" /><Relationship Type="http://schemas.openxmlformats.org/officeDocument/2006/relationships/notesSlide" Target="/ppt/notesSlides/notesSlide1.xml" Id="R56f55e5b7cc441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b4083bc254a1c" /><Relationship Type="http://schemas.openxmlformats.org/officeDocument/2006/relationships/notesSlide" Target="/ppt/notesSlides/notesSlide2.xml" Id="R6fa6a1b3a68c42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b5ae711b8484e" /><Relationship Type="http://schemas.openxmlformats.org/officeDocument/2006/relationships/image" Target="/ppt/media/image2.png" Id="Rb976f128ccb041b6" /><Relationship Type="http://schemas.openxmlformats.org/officeDocument/2006/relationships/image" Target="/ppt/media/image2.svg" Id="R84a6422d43a94df6" /><Relationship Type="http://schemas.openxmlformats.org/officeDocument/2006/relationships/notesSlide" Target="/ppt/notesSlides/notesSlide3.xml" Id="R5d1286e6a7aa43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ef8d8426a4ae3" /><Relationship Type="http://schemas.openxmlformats.org/officeDocument/2006/relationships/notesSlide" Target="/ppt/notesSlides/notesSlide4.xml" Id="Rd4ab5d377b644c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08c8642e541db" /><Relationship Type="http://schemas.openxmlformats.org/officeDocument/2006/relationships/notesSlide" Target="/ppt/notesSlides/notesSlide5.xml" Id="R400003ac719445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e25710fef4b0b" /><Relationship Type="http://schemas.openxmlformats.org/officeDocument/2006/relationships/notesSlide" Target="/ppt/notesSlides/notesSlide6.xml" Id="R8f984857d0df46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fa0f76f2845c9" /><Relationship Type="http://schemas.openxmlformats.org/officeDocument/2006/relationships/image" Target="/ppt/media/image3.png" Id="R39b914921b9e4b7e" /><Relationship Type="http://schemas.openxmlformats.org/officeDocument/2006/relationships/image" Target="/ppt/media/image3.svg" Id="R0965841e336e4242" /><Relationship Type="http://schemas.openxmlformats.org/officeDocument/2006/relationships/notesSlide" Target="/ppt/notesSlides/notesSlide7.xml" Id="Rdc89145060294e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43f744a1743c1" /><Relationship Type="http://schemas.openxmlformats.org/officeDocument/2006/relationships/notesSlide" Target="/ppt/notesSlides/notesSlide8.xml" Id="Ra3892db1e60d40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FB1C8D-9539-4877-90A3-CC272B53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0BF43-D8AE-4819-B9ED-982F8445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80A4F-14B4-44ED-B156-79A23700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D7D4F-B543-409C-8E6A-0513B57D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AD4CC-DB00-4DBD-841F-E31F0BE9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44202-6257-45D1-820B-6BA3449E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22D3A-49CA-4F22-9180-56DD2431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Randomness Pattern Hunt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A3516-C1FD-4E51-AF37-6FC52494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3ef5a420e4093">
            <a:extLst>
              <a:ext uri="{96DAC541-7B7A-43D3-8B79-37D633B846F1}">
                <asvg:svgBlip xmlns:asvg="http://schemas.microsoft.com/office/drawing/2016/SVG/main" r:embed="R099ca95de9a441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37FCD-9252-412D-8459-CAF09B4E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0DBD5-70A2-4BA1-AD51-3203F0C1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AF429-B69E-4D8C-AE3A-AB02FC25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39BDCA-B167-4032-96B0-3C70377D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Human expectations about randomness can mistake clusters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for causes and neatness for chance.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DB388-536D-456F-A4D4-D2CD337A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09AC11-6EBB-4D1D-8769-F6231071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90F54A-E415-470A-9808-C3CAF523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940DA-B70A-4357-B216-941E9187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25-35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Easy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4704506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89CCF3-E59F-4CE9-8D2B-82377757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F00B4-4282-4BCA-863E-CC365562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33A63-F01B-4E27-989F-8972FC89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F5425-270F-4D1C-8D04-572DF991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66144-6550-4D9E-B7F5-72406887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5550FF-A8C3-4AD8-97A4-5BFEDAE0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BD2CC-944F-4A16-BE8D-A003FCE8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937CB-B8F0-4410-B27E-F1DF189E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6A8E1-C677-4A06-B018-DD85B4C7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B1005-ECD3-4883-AE0B-2F7F71CD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52C01-899C-418C-B7A3-19A6DD13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B3B9E-B408-4E9D-A3F2-D6CEC338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test their intuition about randomness, streaks,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and pattern.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Human expectations about randomness can mistake clusters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for causes and neatness for chance.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6CA6A9-DC61-4763-BFC8-D536CF19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E093A-84B9-4BFC-828D-8972EFA8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0989D-2401-4C94-945D-61544460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5F02F-8BCD-49D3-A261-2CB5F254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Coin-flip sequence cards: some generated randomly and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some invented by humans.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Pattern annotation sheet.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Sequence annotation sheet for streaks, alternations,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clusters, and gut judgement.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Reveal card explaining why random sequences often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contain clumps.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12009B-CF24-4ECA-BC08-C46F6BD7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11065577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08BAD-81D6-45A8-A32B-57E9C066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912D9-F1F6-47E4-9149-70DA07D5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CAA2C5-1053-41A3-AFE7-2E11980D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E80B8-FE3F-491D-A649-2D859E54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B66EC-BC07-4644-8B3F-72041460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152BB3-2CDB-455A-A515-B45BA57D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409278-C37D-45BE-AF10-B10A728A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A30BB-00EC-4DD5-A011-6B2DE712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6f128ccb041b6">
            <a:extLst>
              <a:ext uri="{96DAC541-7B7A-43D3-8B79-37D633B846F1}">
                <asvg:svgBlip xmlns:asvg="http://schemas.microsoft.com/office/drawing/2016/SVG/main" r:embed="R84a6422d43a94df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835DE-E542-4554-BC87-45CEADFF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C7DB32-1307-43E3-97B7-CB2B1E38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A5D3B-4CDA-434E-B8A2-56BE9D07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0D363B-0E3C-4A4E-AD56-86BBD9C1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Randomness Pattern Hunt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Sequence A: H T H T T H T H H T H T; Sequence...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Randomness Pattern Hunt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Ask: which sequence looks more random, and...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9D4F34-1A74-4160-95BC-8309FE2B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CEB3D-0C38-46BA-8E1E-E84C4A9D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F08DC-CF58-4092-9998-1CFBC11C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433878-68B2-441A-8541-63FAAA66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Randomness Pattern Hunt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Randomness Pattern Hunt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4357660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01407D-5F96-4EAB-919A-820BED88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40A8D-3203-45AC-A932-C6B93D12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AE806-5197-4D91-B375-436C0D3B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CB7EE-111D-4D11-AEA2-C578BB02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450B86-67C0-4C66-9DB9-4C300391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9BADA-E614-4AA5-8829-A6F78C0A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401B9-0ECF-4089-A838-8F1E0FDD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35699-F8F5-4307-8582-F2C67A595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FFE858-3539-4D04-8C6A-D7A422A6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454E5-2603-4A67-A474-74C086C6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A2688-75E0-4797-A81E-26567E6D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6B36D-78F0-4FBF-B984-D2F8E1EC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Show several short H/T or 0/1 sequences and ask students which look random.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Students mark streaks, alternations, and suspicious-looking clusters.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Reveal which sequences were random and which were invented.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discuss why real randomness often includes streaks.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the difference between pattern perception and probabilistic reasoning.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6EE68-7743-41C6-8F51-3FFDDDAB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Mathemat...</a:t>
            </a:r>
          </a:p>
        </p:txBody>
      </p:sp>
    </p:spTree>
    <p:extLst>
      <p:ext uri="{BB962C8B-B14F-4D97-AF65-F5344CB8AC3E}">
        <p14:creationId xmlns:p14="http://schemas.microsoft.com/office/powerpoint/2010/main" val="366483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FCCB25-C3CD-40A0-8893-2D23B434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69C58-B811-493E-8DDA-31E512E5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1FE47-379B-4C1D-B088-93994B58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69BD8-B845-4760-9B83-DBEBD433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25989-893B-412B-ABD6-6DF8BBE2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856EA-ADB8-48FA-92B3-C2A8EDF9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FCDBA-276F-4871-B917-438AB0A3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53433-C388-4EC7-A945-05FA2287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DA007-624D-4FE4-BAF3-A26D78B6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603615-CB37-4A15-BAE7-3D6D86B0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5AEEE-D78D-4F54-8B17-1E80AF09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75753-D4E2-45BC-BAB5-76D49E8C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13CFC-0DB3-435C-970F-FBA81AFA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A78EA-0CE5-4BB7-AEDC-D3647A5C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BDB5C-886E-451E-88C0-4404FF01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FF002-6AF7-4B03-98A4-DF5C6102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50E25-7F89-4FC4-977B-66D6716E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C471DC-C8F8-4CE6-AE4E-8EB15F78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5E92A5-E1A0-424A-8AFC-B4C9B1E1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9539E-F9AC-48B2-B84F-C454A79F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AA40CF-6C49-417B-9222-FC9E9EB9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172DA-738C-4087-BB73-BCA4CD98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4D780-C92A-4374-9F6D-72D8B95E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69A102-C31B-42B4-B6E0-4EC27782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E2385C-FCE0-470D-B5C4-F30788A8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8AFFE1-1165-4AE9-A7B8-3716B9B3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E61B18-1567-47EB-A03F-684451FA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08FED1-CE61-476B-99F8-F6600FBA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75247075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EA5D97-9235-4B42-A319-D721AC9D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715D82-3DF2-4891-BDB4-BE0389E5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90F41-2FE4-4A93-BD6C-346463AF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0A040-44E3-4716-893E-67D57F2F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C9D30-47BD-4B2F-B736-C0B10BB9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D95885-BFC2-472A-BA74-31845C15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CD22C-C251-4C4E-B6A1-3054DBE4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21A71-9FA9-4FFC-B696-C03866EB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98B34-7518-4CBA-89E4-7BB971EF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EAD5D3-97A1-41DA-98EB-E5A2C198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207527-4DC2-4EB2-BD16-4808838F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9E0ACE-B5EB-4B07-8596-58CC1F50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Why do humans see meaning in random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patterns?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should a pattern make us look for a cause?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mathematics discipline intuition?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32677-3E47-4339-AC87-54DFA689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5F5D7-71E6-4450-9F54-6CB55C60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3EEAA-C949-4051-BE75-B2C42DFE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CBBF0-3C3C-47E5-A989-EDF7CF0E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Why do humans see meaning in random patterns?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When does a pattern justify a causal claim?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can mathematics correct intuitive judgement?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81284-3A6D-4593-98AC-E32141C3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7833399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3A15D7-30F5-4F12-903A-BD4255D2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7E08B3-016A-4B79-8386-902C329D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6B275-8EFD-4EA9-ABD7-82E280B0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3A632-6B31-4B49-8B74-EE103E8D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8E984-A6B9-47EB-9F9C-DE99150C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8A869-D229-4862-BB08-2AFD8C0D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F4436-0D7A-417B-98EB-BC373C8C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A63FA-B396-4D14-8696-4CF91F64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79540-FF6C-4D5B-98BD-0213A66C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C3F67-19C1-40CF-A3C0-A47B95CD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86098-71AB-4624-B4AF-9CB1A014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C0BF5-AA72-4E3F-92A3-A0D5D5C9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I chose the alternating sequence because it looked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balanced, but that was too neat.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real random sequence had clusters that felt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suspicious.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98FA7-50FC-403B-A621-AE29A532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E1261-C2AB-4B08-86BC-BC383F6F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7E291-495D-4DD6-B87F-E61725CE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320A6-2AD0-4108-B78C-362DCE88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generate 20 coin flips and compare them with an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invented sequence.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Connect randomness expectations to gambling, sports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streaks, and data interpretation.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914921b9e4b7e">
            <a:extLst>
              <a:ext uri="{96DAC541-7B7A-43D3-8B79-37D633B846F1}">
                <asvg:svgBlip xmlns:asvg="http://schemas.microsoft.com/office/drawing/2016/SVG/main" r:embed="R0965841e336e42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336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9341EA-09BF-4D42-A763-FEC6E670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96025-ACB5-448B-92CC-846A006B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BD521-6F58-4F61-A154-3780D2C0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8E09D-445F-4419-A867-9AEAF8F8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37CE60-DC23-47FD-8481-6FE85DF7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06EE9-4370-43F0-8581-2353783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Mathematics  |  25-35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60B68-E802-42FB-B4E9-5AB4898A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91F57C-C00F-404F-B2B1-5E51DDF4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5FAF56-35C1-4EFA-88DF-CF4F4301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70018-C70A-4427-B798-FB23F7F5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CF358-634A-4240-A1A3-AEF8EE36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D7E75-8C5A-4F31-B60C-C92AE7AD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random coin-flip sequence with clusters highlighted as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misleadingly meaningful.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A74638-91E2-421B-B319-B0FAD1C0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D3881-1327-4E6D-959B-E372B9D0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2BF83-77B1-4C41-839A-7F7FA547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33910-3ECE-4917-A0EA-BE25E252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30D5A-128A-43FA-BD64-6A4ED2D4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F9D2C-5F68-4BBC-BFF5-FBB68DD49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FEC01-ED9E-40EE-A895-DAEC6F4D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0A906-28A8-4298-94D5-783F939A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Correlation Illusion Cards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Proof versus Pattern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P-hacking with Random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213A67-6720-4A3B-913B-FF7DBD0A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4949742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2026-06-20T10:31:39.9590000Z</dcterms:created>
  <dcterms:modified xsi:type="dcterms:W3CDTF">2026-06-20T10:31:39.9590000Z</dcterms:modified>
</coreProperties>
</file>