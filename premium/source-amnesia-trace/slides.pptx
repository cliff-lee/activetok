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0933ee153b4714" /><Relationship Type="http://schemas.openxmlformats.org/officeDocument/2006/relationships/extended-properties" Target="/docProps/app.xml" Id="R674f0998d2ce41fd" /><Relationship Type="http://schemas.openxmlformats.org/officeDocument/2006/relationships/officeDocument" Target="/ppt/presentation.xml" Id="Rad56fbdf5dbc4e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ed1823714d4a1b"/>
  </p:sldMasterIdLst>
  <p:notesMasterIdLst>
    <p:notesMasterId xmlns:r="http://schemas.openxmlformats.org/officeDocument/2006/relationships" r:id="Rf7ce53dbac10473f"/>
  </p:notesMasterIdLst>
  <p:sldIdLst>
    <p:sldId xmlns:r="http://schemas.openxmlformats.org/officeDocument/2006/relationships" id="256" r:id="Rde25c9b54b214be3"/>
    <p:sldId xmlns:r="http://schemas.openxmlformats.org/officeDocument/2006/relationships" id="257" r:id="R939135c1ba6a47c4"/>
    <p:sldId xmlns:r="http://schemas.openxmlformats.org/officeDocument/2006/relationships" id="258" r:id="Ra190068ed54d4fc5"/>
    <p:sldId xmlns:r="http://schemas.openxmlformats.org/officeDocument/2006/relationships" id="259" r:id="R1659eb1ea7f1427b"/>
    <p:sldId xmlns:r="http://schemas.openxmlformats.org/officeDocument/2006/relationships" id="260" r:id="Rdcb07c8e327843c1"/>
    <p:sldId xmlns:r="http://schemas.openxmlformats.org/officeDocument/2006/relationships" id="261" r:id="R6c828bb6b16246be"/>
    <p:sldId xmlns:r="http://schemas.openxmlformats.org/officeDocument/2006/relationships" id="262" r:id="R81cee3d04216442b"/>
    <p:sldId xmlns:r="http://schemas.openxmlformats.org/officeDocument/2006/relationships" id="263" r:id="R62acc5265f9042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f381cf2f3044fe" /><Relationship Type="http://schemas.openxmlformats.org/officeDocument/2006/relationships/slideMaster" Target="/ppt/slideMasters/slideMaster1.xml" Id="R15ed1823714d4a1b" /><Relationship Type="http://schemas.openxmlformats.org/officeDocument/2006/relationships/notesMaster" Target="/ppt/notesMasters/notesMaster1.xml" Id="Rf7ce53dbac10473f" /><Relationship Type="http://schemas.openxmlformats.org/officeDocument/2006/relationships/presProps" Target="/ppt/presProps.xml" Id="R02f6ea318c6c4a26" /><Relationship Type="http://schemas.openxmlformats.org/officeDocument/2006/relationships/tableStyles" Target="/ppt/tableStyles.xml" Id="R61a7687de7004a87" /><Relationship Type="http://schemas.openxmlformats.org/officeDocument/2006/relationships/slide" Target="/ppt/slides/slide1.xml" Id="Rde25c9b54b214be3" /><Relationship Type="http://schemas.openxmlformats.org/officeDocument/2006/relationships/slide" Target="/ppt/slides/slide2.xml" Id="R939135c1ba6a47c4" /><Relationship Type="http://schemas.openxmlformats.org/officeDocument/2006/relationships/slide" Target="/ppt/slides/slide3.xml" Id="Ra190068ed54d4fc5" /><Relationship Type="http://schemas.openxmlformats.org/officeDocument/2006/relationships/slide" Target="/ppt/slides/slide4.xml" Id="R1659eb1ea7f1427b" /><Relationship Type="http://schemas.openxmlformats.org/officeDocument/2006/relationships/slide" Target="/ppt/slides/slide5.xml" Id="Rdcb07c8e327843c1" /><Relationship Type="http://schemas.openxmlformats.org/officeDocument/2006/relationships/slide" Target="/ppt/slides/slide6.xml" Id="R6c828bb6b16246be" /><Relationship Type="http://schemas.openxmlformats.org/officeDocument/2006/relationships/slide" Target="/ppt/slides/slide7.xml" Id="R81cee3d04216442b" /><Relationship Type="http://schemas.openxmlformats.org/officeDocument/2006/relationships/slide" Target="/ppt/slides/slide8.xml" Id="R62acc5265f9042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b5a105871841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1b24336c0f4dd5" /><Relationship Type="http://schemas.openxmlformats.org/officeDocument/2006/relationships/notesMaster" Target="/ppt/notesMasters/notesMaster1.xml" Id="R755579c82a7443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5a9ff0539b4500" /><Relationship Type="http://schemas.openxmlformats.org/officeDocument/2006/relationships/notesMaster" Target="/ppt/notesMasters/notesMaster1.xml" Id="R6c607d02f4f143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253aaee6ad4c8f" /><Relationship Type="http://schemas.openxmlformats.org/officeDocument/2006/relationships/notesMaster" Target="/ppt/notesMasters/notesMaster1.xml" Id="R48a315d2aac045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8241fcce4d4a5f" /><Relationship Type="http://schemas.openxmlformats.org/officeDocument/2006/relationships/notesMaster" Target="/ppt/notesMasters/notesMaster1.xml" Id="R3fb6582904184f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0f44ed5e1a4e2d" /><Relationship Type="http://schemas.openxmlformats.org/officeDocument/2006/relationships/notesMaster" Target="/ppt/notesMasters/notesMaster1.xml" Id="R113683ebee9d40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a81333c42a4f8c" /><Relationship Type="http://schemas.openxmlformats.org/officeDocument/2006/relationships/notesMaster" Target="/ppt/notesMasters/notesMaster1.xml" Id="R901906cafb5843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e7380bca194a8f" /><Relationship Type="http://schemas.openxmlformats.org/officeDocument/2006/relationships/notesMaster" Target="/ppt/notesMasters/notesMaster1.xml" Id="R9698945733474c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6fac0fbd7e426f" /><Relationship Type="http://schemas.openxmlformats.org/officeDocument/2006/relationships/notesMaster" Target="/ppt/notesMasters/notesMaster1.xml" Id="R3aeefe7f0f7248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82e0e3ee543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bbba6b966f4f73" /><Relationship Type="http://schemas.openxmlformats.org/officeDocument/2006/relationships/slideLayout" Target="/ppt/slideLayouts/slideLayout1.xml" Id="R627e1f53ac3344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7e1f53ac3344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25c14746e489f" /><Relationship Type="http://schemas.openxmlformats.org/officeDocument/2006/relationships/image" Target="/ppt/media/image.png" Id="R25ebc02df3044324" /><Relationship Type="http://schemas.openxmlformats.org/officeDocument/2006/relationships/image" Target="/ppt/media/image.svg" Id="Rafd2a7ad4879410f" /><Relationship Type="http://schemas.openxmlformats.org/officeDocument/2006/relationships/notesSlide" Target="/ppt/notesSlides/notesSlide1.xml" Id="R32a6b1bb669049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7229d0ffe42a4" /><Relationship Type="http://schemas.openxmlformats.org/officeDocument/2006/relationships/notesSlide" Target="/ppt/notesSlides/notesSlide2.xml" Id="R88759916102f47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492ce1ce748ad" /><Relationship Type="http://schemas.openxmlformats.org/officeDocument/2006/relationships/image" Target="/ppt/media/image2.png" Id="R589446f604aa4632" /><Relationship Type="http://schemas.openxmlformats.org/officeDocument/2006/relationships/image" Target="/ppt/media/image2.svg" Id="Rfb1c9f1a89654e45" /><Relationship Type="http://schemas.openxmlformats.org/officeDocument/2006/relationships/notesSlide" Target="/ppt/notesSlides/notesSlide3.xml" Id="R9b28e2e3933d40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bb7f05c0744c5" /><Relationship Type="http://schemas.openxmlformats.org/officeDocument/2006/relationships/notesSlide" Target="/ppt/notesSlides/notesSlide4.xml" Id="R00d7622367f34c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60cfc1b74452f" /><Relationship Type="http://schemas.openxmlformats.org/officeDocument/2006/relationships/notesSlide" Target="/ppt/notesSlides/notesSlide5.xml" Id="R5f467351b9984e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0e7ec34a3404f" /><Relationship Type="http://schemas.openxmlformats.org/officeDocument/2006/relationships/notesSlide" Target="/ppt/notesSlides/notesSlide6.xml" Id="R2252fb7fd57c49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9027202a34b7f" /><Relationship Type="http://schemas.openxmlformats.org/officeDocument/2006/relationships/image" Target="/ppt/media/image3.png" Id="Rb669b5f2ca3a4dd4" /><Relationship Type="http://schemas.openxmlformats.org/officeDocument/2006/relationships/image" Target="/ppt/media/image3.svg" Id="Rf5b86dedfa794f9c" /><Relationship Type="http://schemas.openxmlformats.org/officeDocument/2006/relationships/notesSlide" Target="/ppt/notesSlides/notesSlide7.xml" Id="R185415a7628a4b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d7d1865f44d27" /><Relationship Type="http://schemas.openxmlformats.org/officeDocument/2006/relationships/notesSlide" Target="/ppt/notesSlides/notesSlide8.xml" Id="R02d661646ff840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9423BA-18EF-4ECA-A7BF-8EAB8B60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B0E84-DDAC-463B-BA70-EBB5342E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EAE1F-E41F-4459-832A-C334D2F4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F748D-C657-44A2-985E-677D8205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2194A-4296-49C7-A251-5CD56BEF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7383C-938A-4ADB-BFC1-091D63A0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51C03-697D-472E-BFAA-38456221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Source Amnesia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ED1A1-5F34-4DEF-8BF9-13BB2BCA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bc02df3044324">
            <a:extLst>
              <a:ext uri="{96DAC541-7B7A-43D3-8B79-37D633B846F1}">
                <asvg:svgBlip xmlns:asvg="http://schemas.microsoft.com/office/drawing/2016/SVG/main" r:embed="Rafd2a7ad487941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ACE7A-6C03-42FB-AC78-EF3C19FA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1D480-F30A-4794-ADC1-7DD83EF3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DBF10-B4DB-4B6E-914A-B40AE884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1E80C-AE9D-4035-B6DA-0A3BAFF2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Remembering a claim is not the same as remembering why it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deserved trust.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5A1B6-626B-4487-A583-345D69FC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DE10E-0E1A-495B-BCC2-2E4C727B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A59AF-4BC7-4CAE-BFD0-F54DF352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C4520-54A1-4B92-B685-9C1103EA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7012103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B6FDDA-B450-4B35-BE78-8DF1CA56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F961A-742E-4BD5-8F4F-68ACE57B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4CF8B-F8DB-423D-A288-A368CE8F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758D1-E3A8-4435-8422-18DB6244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72F41-41CB-4E83-BCF9-BF1ABD8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62B9A-2F8F-4972-BEAA-496A9CCE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A75B1-C3AF-437E-8D55-108DEFDE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3147F-45ED-45AB-9C64-D2FC30D8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36FAE-43BF-42DF-8AC9-1CAF5DB6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A2BFA-9616-4B0C-8802-34DECDE5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4EDAB-434C-4CB2-ABC9-6F1FF493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F393A-5AEF-4709-8629-8FBB07D1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distinguish memory for content from memory for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source.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Remembering a claim is not the same as remembering why it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deserved trust.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34791-5480-4207-A09B-00ECF6AB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B85C3-8055-47A2-B062-B6ADE57B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5B36E-422C-4831-B9CD-3F639302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F1C1A-8527-4267-B010-07045262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Claim cards paired with source labels such as expert,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friend, advert, textbook, anonymous post.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Delayed source-trace answer 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Source-trace answer sheet with columns: remembered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claim, remembered source, confidence, revised trust.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Source label cards: expert, textbook, friend, advert,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anonymous post, personal experience.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A47CE-063E-4878-A396-1A293CB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1764104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FE9403-27E0-4911-9A0F-97502EDC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CE8DF-54DC-4107-8D16-4616DF05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CFC89-6AB0-43C3-958F-0B87E3C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C206A-A196-45E6-83DC-F2EC6064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7E54B-1A4E-43BB-81C0-7DAAB4FB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D9FD3-7193-4BF9-824F-D20C37A9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A13EC-DAB1-4D21-8E8B-63433CBD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F3FD9-8E23-405A-9CE2-544CE88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446f604aa4632">
            <a:extLst>
              <a:ext uri="{96DAC541-7B7A-43D3-8B79-37D633B846F1}">
                <asvg:svgBlip xmlns:asvg="http://schemas.microsoft.com/office/drawing/2016/SVG/main" r:embed="Rfb1c9f1a89654e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45154-D1B3-4D20-9244-0C95A641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1E808-9366-4FC5-BFE1-2B0417FB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C1151-06BD-4499-9C3F-4EB9FDB3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80674-D9FA-472C-A1C1-E6F55A5E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Source Amnesia Trace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Claim: 'Spacing revision improves long-term memory'...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Source Amnesia Trace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Claim: 'Blue light glasses double focus' paired first...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83C91-B4C2-409A-95F9-AFFBB2DB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71B4E-A4A7-40C3-89C7-A3FD2239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080E6-8AF0-411C-8C90-B988951D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756BC-33B0-4329-AB8E-72A8D339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Source Amnesia Trace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Source Amnesia Trace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58542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9DBADC-C457-40CE-BE94-35FDB63E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2A15B-9738-4307-97EB-1971BC92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FECBC-3B18-46F0-872C-2A8C2CF8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F80DB-2997-421E-B5D2-E474E027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7043B-B6C5-4D46-96B0-5E2B03D5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DCD2D-9C2E-44F0-8CCE-0D9EB6F2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DFA96-9CA0-437F-9BA5-C4D5286D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47A2B-19E1-4E57-831E-C5D1E1FE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883B5-6C03-4139-A877-E3458FF2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EBC6C-E77F-4968-B30D-017E3888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DCB43-BC9F-4833-A429-568A3EC3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F219F-C28D-4262-B088-456F27C1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students a short set of claims, each paired with a different source type.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After a distractor task, give students the claims again without sources.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mark whether they remember the claim and then identify its original source.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Reveal the source pairings and compare content memory with source memory.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source memory affects justification and responsible belief.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CF702-9D29-44F1-ADEA-07351C5F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12843668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23AD72-5CF7-47C5-912D-7F35C73F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6FC1D-1B2F-4396-996F-CDE46793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1BE45-63D7-4078-8207-0EC45BFC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DE8A8-E41A-49DD-94A9-FCC09D9B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CFCB5-A271-4EAF-AA61-7BFBEC08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50422-FEC2-439F-8C8C-A447490E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B610F-7934-40BA-96F9-7DE18622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C2101-D951-4094-B701-B509EBAA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BBF38-0338-4B98-914E-73DBA78F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BF925-6FAE-408D-BDF8-651DA96F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5C11A-B485-4791-AEF0-E45DF8FC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1E62D-DB9D-4ABA-9483-971551A3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74446-1DC9-417F-B73F-C1551B87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ECB11-64D6-479C-9E69-236614FB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5ACFF-1B96-44D5-900E-B831B90E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05D63-049F-48B4-A5F2-27B130E0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CA406-0A7B-40E5-934A-7E84A13F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1731B-AE92-4641-8B16-D37D8E64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55761-B3E6-4FEB-A9F8-D572B2F9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3C978-C7F9-4279-83CB-362BDC28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5E084-571A-4002-AD96-2429120D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DB854-F6D4-4F1F-87D4-2F521ACE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9AA77-2256-4A98-8784-8B4A4DE8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14B2B-C6C0-4167-ABD9-906D3BC8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C4C09-833A-4ACF-8D31-E6941BA4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E15EA4-ECA2-45CD-9D33-458E9A56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00DFEB-2379-4275-B6F7-9CC950E3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36BB62-D1D2-4A7D-BD27-3B3E4432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2408105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847C1-D834-4B1A-80AF-DCB95DD9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894D8-7773-46EC-927C-A3960B67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25DE5-237E-4927-8008-B1CDA9D5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EF4E7-D2B3-429B-8D52-59D9429F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4B828-5CB9-4B66-928D-84230126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16B3C-5AD5-4120-A2E1-27F1815E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2762B-3430-41CA-A659-C1C8A8DF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C7925-3A8F-4F42-9700-04FDEE00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546A7-76F1-4757-978C-2F816C0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E3A5F-4D5E-4870-943D-CC73449F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48BDC-2485-48EF-8839-3C83A189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B3C19-10D1-40C8-BF95-9F18C684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What happens to justification when we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forget the source of a belief?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claim become more or less credible in memory?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should knowers track where their beliefs came from?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00ABB-CCC8-4242-AED1-7D81E481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8274D-033C-4319-8D86-30942184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757F1-246D-4B98-99CD-7B50B430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4AA12-C517-4B38-AA8D-F00BEE2A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happens to justification when we forget the source of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belief?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remembering that something is true enough for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source memory affect responsible knowing?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75625-8C37-4997-9E5C-D0AB0E6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6471660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6EF42-C280-4B43-8849-A0C33513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C1FBE-736A-4849-911D-4A5D31AF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1175E-5F03-46CE-BEFC-E3E2F94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0EAB2-6BFE-48FA-8659-A245A2F3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71311-B64A-4276-A336-CA03426F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0D055-4025-4CCA-A33A-44F0FE44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3D55D-2534-43C0-AB65-BC2C7D42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2DAF2-D8D0-41D3-92D0-7F984294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3643F-7871-47FB-9026-20EA1F4F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5812E-937D-4DC5-8427-43E7AA17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872F9-2E8D-4096-8019-D7D67C32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17586-DDE3-4D21-A550-3652E272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remembered the claim but not that it came from an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advert, so I trusted it too quickly.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source changed whether the same sentence counted 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good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31087-823A-4DF4-A0A0-4938A325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A70AC-4B2A-4B70-B546-DE8D950D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AF068-6128-4B6D-B46B-22510AF6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3A37C-5022-402C-A061-6996D0D0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audit one belief they hold and trace where it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probably came from.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source amnesia to citation, rumours, and social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media reposting.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9b5f2ca3a4dd4">
            <a:extLst>
              <a:ext uri="{96DAC541-7B7A-43D3-8B79-37D633B846F1}">
                <asvg:svgBlip xmlns:asvg="http://schemas.microsoft.com/office/drawing/2016/SVG/main" r:embed="Rf5b86dedfa794f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87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D30ABF-FFA6-4BC1-89B5-FAFA2C3D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949FD-221E-436C-ADF6-74F41021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B00CA-3969-41D7-9EDD-C55B07FE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14F93-DEEA-4E01-B536-12FD0320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F3418-841A-44EC-A83A-80294BD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785FC-52D2-4A75-AF6E-14877BB8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D1E60-1B02-411A-8871-FE89B12B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D0DE7-3D2F-4F4B-B7C8-3D1E7DB4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99432-F857-4CDA-AA5F-C47751FD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29E10-59AE-4110-8BC2-811AFEB2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00DB5-FC2B-469C-9AD0-CF17B9B0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8CF49-002C-4B61-9F4C-781D7879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claim card with its original source label removed and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later restored.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6319F-A23C-462E-9098-3805BCA3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69143-B10F-448A-9B1F-4A104FD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F6C92-001C-44E8-8FEC-18D536C1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F3EE1-93AD-4D7F-A36A-E93EB85D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9FAE6-3EDF-481D-B4B3-6C712F16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72359-FEBB-4DC3-8B9C-03DAC763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8902C-8A68-4E4D-8336-D08EDBC7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3BA7C-0F52-46DF-B021-909CCD7E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False Memory Word List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Confidence Calibration Test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Eyewitness Trap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E520B-6D06-4F44-9CF0-DBABF2B9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352752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2026-06-20T10:31:39.6440000Z</dcterms:created>
  <dcterms:modified xsi:type="dcterms:W3CDTF">2026-06-20T10:31:39.6440000Z</dcterms:modified>
</coreProperties>
</file>