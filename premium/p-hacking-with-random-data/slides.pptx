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e3a25b7f724fff" /><Relationship Type="http://schemas.openxmlformats.org/officeDocument/2006/relationships/extended-properties" Target="/docProps/app.xml" Id="R154dc4da0206432f" /><Relationship Type="http://schemas.openxmlformats.org/officeDocument/2006/relationships/officeDocument" Target="/ppt/presentation.xml" Id="Red7142dc55ab4d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1242b12a9045f4"/>
  </p:sldMasterIdLst>
  <p:notesMasterIdLst>
    <p:notesMasterId xmlns:r="http://schemas.openxmlformats.org/officeDocument/2006/relationships" r:id="R5164258b55324631"/>
  </p:notesMasterIdLst>
  <p:sldIdLst>
    <p:sldId xmlns:r="http://schemas.openxmlformats.org/officeDocument/2006/relationships" id="256" r:id="R209f66e56ddf4ce6"/>
    <p:sldId xmlns:r="http://schemas.openxmlformats.org/officeDocument/2006/relationships" id="257" r:id="R79149f0de52648dd"/>
    <p:sldId xmlns:r="http://schemas.openxmlformats.org/officeDocument/2006/relationships" id="258" r:id="R273b782fe5b842de"/>
    <p:sldId xmlns:r="http://schemas.openxmlformats.org/officeDocument/2006/relationships" id="259" r:id="Rf771b321b2564ca0"/>
    <p:sldId xmlns:r="http://schemas.openxmlformats.org/officeDocument/2006/relationships" id="260" r:id="R78ea1e22b8834655"/>
    <p:sldId xmlns:r="http://schemas.openxmlformats.org/officeDocument/2006/relationships" id="261" r:id="Rc20fa2803a324264"/>
    <p:sldId xmlns:r="http://schemas.openxmlformats.org/officeDocument/2006/relationships" id="262" r:id="R70b66b4bf89b48b8"/>
    <p:sldId xmlns:r="http://schemas.openxmlformats.org/officeDocument/2006/relationships" id="263" r:id="R6bffcf0270d743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61930b7fc04fc0" /><Relationship Type="http://schemas.openxmlformats.org/officeDocument/2006/relationships/slideMaster" Target="/ppt/slideMasters/slideMaster1.xml" Id="R641242b12a9045f4" /><Relationship Type="http://schemas.openxmlformats.org/officeDocument/2006/relationships/notesMaster" Target="/ppt/notesMasters/notesMaster1.xml" Id="R5164258b55324631" /><Relationship Type="http://schemas.openxmlformats.org/officeDocument/2006/relationships/presProps" Target="/ppt/presProps.xml" Id="Rfb71220fcae74e98" /><Relationship Type="http://schemas.openxmlformats.org/officeDocument/2006/relationships/tableStyles" Target="/ppt/tableStyles.xml" Id="Rf2b24a3140c94ac8" /><Relationship Type="http://schemas.openxmlformats.org/officeDocument/2006/relationships/slide" Target="/ppt/slides/slide1.xml" Id="R209f66e56ddf4ce6" /><Relationship Type="http://schemas.openxmlformats.org/officeDocument/2006/relationships/slide" Target="/ppt/slides/slide2.xml" Id="R79149f0de52648dd" /><Relationship Type="http://schemas.openxmlformats.org/officeDocument/2006/relationships/slide" Target="/ppt/slides/slide3.xml" Id="R273b782fe5b842de" /><Relationship Type="http://schemas.openxmlformats.org/officeDocument/2006/relationships/slide" Target="/ppt/slides/slide4.xml" Id="Rf771b321b2564ca0" /><Relationship Type="http://schemas.openxmlformats.org/officeDocument/2006/relationships/slide" Target="/ppt/slides/slide5.xml" Id="R78ea1e22b8834655" /><Relationship Type="http://schemas.openxmlformats.org/officeDocument/2006/relationships/slide" Target="/ppt/slides/slide6.xml" Id="Rc20fa2803a324264" /><Relationship Type="http://schemas.openxmlformats.org/officeDocument/2006/relationships/slide" Target="/ppt/slides/slide7.xml" Id="R70b66b4bf89b48b8" /><Relationship Type="http://schemas.openxmlformats.org/officeDocument/2006/relationships/slide" Target="/ppt/slides/slide8.xml" Id="R6bffcf0270d743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3767e1a30249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701d29c2ed4c5c" /><Relationship Type="http://schemas.openxmlformats.org/officeDocument/2006/relationships/notesMaster" Target="/ppt/notesMasters/notesMaster1.xml" Id="R01d864f48b6147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7787dd6a5c4883" /><Relationship Type="http://schemas.openxmlformats.org/officeDocument/2006/relationships/notesMaster" Target="/ppt/notesMasters/notesMaster1.xml" Id="R955e512a59844b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9d95a9a3274632" /><Relationship Type="http://schemas.openxmlformats.org/officeDocument/2006/relationships/notesMaster" Target="/ppt/notesMasters/notesMaster1.xml" Id="Rdce27b2b633245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0cdbe202564047" /><Relationship Type="http://schemas.openxmlformats.org/officeDocument/2006/relationships/notesMaster" Target="/ppt/notesMasters/notesMaster1.xml" Id="R910e80ca290a4b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5138c7912c4cda" /><Relationship Type="http://schemas.openxmlformats.org/officeDocument/2006/relationships/notesMaster" Target="/ppt/notesMasters/notesMaster1.xml" Id="R9a4231ee20604f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9776a3586e4bd0" /><Relationship Type="http://schemas.openxmlformats.org/officeDocument/2006/relationships/notesMaster" Target="/ppt/notesMasters/notesMaster1.xml" Id="Rf0e9d17e26764d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c6850de818490e" /><Relationship Type="http://schemas.openxmlformats.org/officeDocument/2006/relationships/notesMaster" Target="/ppt/notesMasters/notesMaster1.xml" Id="Rfae533dd8b9544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015f27fe764f0c" /><Relationship Type="http://schemas.openxmlformats.org/officeDocument/2006/relationships/notesMaster" Target="/ppt/notesMasters/notesMaster1.xml" Id="R4f7667e7d96941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4274546b3f40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1653280c9e4376" /><Relationship Type="http://schemas.openxmlformats.org/officeDocument/2006/relationships/slideLayout" Target="/ppt/slideLayouts/slideLayout1.xml" Id="R216fea97029e49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6fea97029e49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8394ba0d941cb" /><Relationship Type="http://schemas.openxmlformats.org/officeDocument/2006/relationships/image" Target="/ppt/media/image.png" Id="R64e76e1ac7b64779" /><Relationship Type="http://schemas.openxmlformats.org/officeDocument/2006/relationships/image" Target="/ppt/media/image.svg" Id="R642ba59075f5451f" /><Relationship Type="http://schemas.openxmlformats.org/officeDocument/2006/relationships/notesSlide" Target="/ppt/notesSlides/notesSlide1.xml" Id="Rdabdcb1b30744f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8b2ae77584ae5" /><Relationship Type="http://schemas.openxmlformats.org/officeDocument/2006/relationships/notesSlide" Target="/ppt/notesSlides/notesSlide2.xml" Id="R7483932e9d3e49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c87467ad54871" /><Relationship Type="http://schemas.openxmlformats.org/officeDocument/2006/relationships/image" Target="/ppt/media/image2.png" Id="Rf6d8f7af88464ddd" /><Relationship Type="http://schemas.openxmlformats.org/officeDocument/2006/relationships/image" Target="/ppt/media/image2.svg" Id="Ra372c26520ea441b" /><Relationship Type="http://schemas.openxmlformats.org/officeDocument/2006/relationships/notesSlide" Target="/ppt/notesSlides/notesSlide3.xml" Id="Ra3197e4a49ed4b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8814f451c4aa9" /><Relationship Type="http://schemas.openxmlformats.org/officeDocument/2006/relationships/notesSlide" Target="/ppt/notesSlides/notesSlide4.xml" Id="Rbe0b009363264f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4dce06a7d4c6c" /><Relationship Type="http://schemas.openxmlformats.org/officeDocument/2006/relationships/notesSlide" Target="/ppt/notesSlides/notesSlide5.xml" Id="Ra98776e3fa7546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7623e5e834a41" /><Relationship Type="http://schemas.openxmlformats.org/officeDocument/2006/relationships/notesSlide" Target="/ppt/notesSlides/notesSlide6.xml" Id="R52124067aa684d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a05d77b064527" /><Relationship Type="http://schemas.openxmlformats.org/officeDocument/2006/relationships/image" Target="/ppt/media/image3.png" Id="Rfb4012808bbc43aa" /><Relationship Type="http://schemas.openxmlformats.org/officeDocument/2006/relationships/image" Target="/ppt/media/image3.svg" Id="Rfe436509cf404cf1" /><Relationship Type="http://schemas.openxmlformats.org/officeDocument/2006/relationships/notesSlide" Target="/ppt/notesSlides/notesSlide7.xml" Id="Radf2cfba6fd145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97f82e55047e7" /><Relationship Type="http://schemas.openxmlformats.org/officeDocument/2006/relationships/notesSlide" Target="/ppt/notesSlides/notesSlide8.xml" Id="Re5abbfb6438a42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EC0BE5-44C7-4A4D-874C-B0361C73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D80EE-605B-4DB4-9ED9-2393EF1F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08997-3C02-4E32-9FFE-010D41AE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FE65C-3200-4BED-A683-8F228140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CA3EC-4860-44E0-B9A9-92AB7406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184F8-0672-4F04-8975-D705D706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CC17F-4867-482C-952A-387EA87E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P-hacking with Random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37B5D-62E6-4BCF-A604-785BF8F5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76e1ac7b64779">
            <a:extLst>
              <a:ext uri="{96DAC541-7B7A-43D3-8B79-37D633B846F1}">
                <asvg:svgBlip xmlns:asvg="http://schemas.microsoft.com/office/drawing/2016/SVG/main" r:embed="R642ba59075f545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1A096-635B-417F-A2CD-9286123B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274FB-499F-4D7B-8E97-EB58EA43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41386-94A2-4CB8-A0B0-1FDC9411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AF05F-B9DB-4459-B7CB-D355852F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Methods can create false confidence.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7424F-9B82-4EFD-98C0-3342D26F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DC951-EBCC-44BC-A2F2-FCAD5066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AA89E-6346-47F0-B764-A08BD24D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D9246-79D6-42DC-818A-96EDD270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35-45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Extended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20918618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F3292F-13C0-4D7D-B566-3DAC56F1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E77E9-A9C9-4FC0-AEE0-2495A6CC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A2B00-0225-41ED-A34E-1DD655D0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6204E-45C0-4AF1-BB83-90723FC4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69F68-45FB-42F6-A54B-E14E0001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AD906-2868-4B56-98D9-CD9BB226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985F9-B28D-42BF-BF3C-9C0813E6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5E0B0-8AF8-4A36-9A01-6249E1FA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9B9D6-16A1-40EF-AD9A-80A5BDA3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D6583-D6C8-4172-AA7B-153167B6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69650-2279-4BBF-BF17-F212CE96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B52F8-5D7F-4E5C-875D-882F23DD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experience how false patterns can appear when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many tests are tried.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Methods can create false confidence.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24831-7241-4162-848A-E33D0F90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D84CF-C29A-4F58-8B14-0E0DBE6F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3D05F-7A76-4947-98EC-2E76E253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48107-0701-44D1-8787-1C9EF223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Random class-style data: shoe size, screen time,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favourite colour, sleep hours, star sign, score, pet...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A6A36-548C-445C-8786-659B6E6A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7044990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57547D-BA83-44B4-8015-9A72AA7C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552C9-D4C8-4C3E-AD25-D185BA07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1F67D-D0CB-4881-AD5B-A74CD606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0A080-3D3D-43CB-B854-E56625C5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73557-BD34-4649-9143-31131A9E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F4782-1D99-4A80-A87D-495ED551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19401-8D95-4049-BFA2-D43DB118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70B4B-63B4-482A-A51C-710B26F3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8f7af88464ddd">
            <a:extLst>
              <a:ext uri="{96DAC541-7B7A-43D3-8B79-37D633B846F1}">
                <asvg:svgBlip xmlns:asvg="http://schemas.microsoft.com/office/drawing/2016/SVG/main" r:embed="Ra372c26520ea44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C9E95-DDEC-44E8-8485-A0A72BEE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D24FD-69E4-4AA0-8B35-E03C93BC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F2FCF-C1CD-45A5-A3C2-13067F3E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781BE-5D45-4D82-A555-6CC7C642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P-hacking with Random Data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A random dataset where students hunt for any...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P-hacking with Random Data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Multiple subgroup comparisons that eventually...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EDF91-A166-441B-853E-7C572F4E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FA71B-941A-4222-A2BF-DB0F5089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AA588-F8E0-4B26-A5E4-FE44F3BD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3C4BA-AEFE-45BD-A529-056AC7E1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P-hacking with Random Data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P-hacking with Random Data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5377885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E23077-13A6-4CD4-96BE-3326546C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59E91-967F-456C-98D8-148176DF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60A65-270B-41AE-B61B-4313C499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6BF6F-19BD-4F64-9D80-AA11F24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7B618-46C5-4A81-B318-8EE3DEC4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CD576-5A85-47D2-B0C5-2C712F4E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87E7B-91DD-4BBD-A152-85116A6E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2A24B-61A3-4337-9C0D-284D6530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147FF-1637-44F3-BF4E-5B80EBB6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893BD-C08F-4B0F-A4FB-14265544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B0FBC-309C-4447-9200-89BAE045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C0AB9-AE96-47EA-818A-7111165B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groups a random data table.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Let them test as many relationships as possible.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Reward groups for finding an apparently interesting pattern.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Reveal that, with enough searches, chance findings become likely.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FCC2C-87A5-4B2A-800F-9D440EB1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Natural...</a:t>
            </a:r>
          </a:p>
        </p:txBody>
      </p:sp>
    </p:spTree>
    <p:extLst>
      <p:ext uri="{BB962C8B-B14F-4D97-AF65-F5344CB8AC3E}">
        <p14:creationId xmlns:p14="http://schemas.microsoft.com/office/powerpoint/2010/main" val="21346261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604E91-A587-4CDC-878E-65901655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49BBA-4102-48E1-8483-926FD251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90C42-DCDB-41F2-A33E-D66DB690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6C474-A58B-4DB2-B197-90D8F21C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A9C93-42BD-43B1-9A32-C94CEF5B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C44CE-A796-4822-B12C-7DE2C536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05DF6-6D65-4DD1-8596-83F61DB5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3F792-B141-4A09-8BA3-1E764CEA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ABC93-0018-4621-AF5F-7E8A079E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BFEF0-635F-4CB3-810D-797AB3DC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AF24E-FBA5-4C43-98A8-6D891D7A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91054-0502-4F33-B95C-DDE448D3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33691-8D87-49D2-B106-F2D48630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7DA14-3229-4A0E-9128-E9B945DB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3768A-FF2B-4CD2-94BF-BB999B6E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343C6-85D6-4DAB-B7FE-41E74CB5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2EB89-090C-48E5-97D7-06FF40B5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FEFD6-6330-4E4A-8B92-6FF7840E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0BEE5D-9C19-40B9-847A-0D1C5DBE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DD0BA-C661-46F1-A798-B9E9C7A9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46EB18-A45B-4D5C-8184-9F72F908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FF478-9766-4B04-A877-B7207941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4B9604-B215-41ED-9665-6ECE98BC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B1AA86-EDF2-4903-94B8-F2F06862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B21A9-222F-4BE0-9DD5-9397E9F4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1AF698-CB23-42B9-AF8E-67A4E0C4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0F9656-1FD9-4949-B981-876D6E4C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E333E-E046-4001-AD2D-33A8EB54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2834103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E4AD0B-DF2D-48B2-AEC5-209F45BD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C3182-BBDE-4B9F-A91A-C6DF50AE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220C6-602F-4D60-8642-1B3C3CFC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D5ACD-C391-4119-A6B2-7FE00A3C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AEE73-ECB8-4894-8462-8720C023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CA472-2A44-4BCC-A768-80E1BC90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E2E43-E818-42C4-BF9D-B675B6BA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52FE3-2C12-47B2-BE10-5ED0E3EB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63962-84A1-47C7-B871-C7236A50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90795-0B03-4641-8477-B86D4391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96359-A176-4C78-8D84-000B23BA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C6BAA-43AC-40AC-B0A8-D8CBD87B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Can correct methods lead to false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Why are preregistration, replication and transparency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important?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can a result be statistically impressive but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epistemically weak?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43B53-86EA-467C-B928-519C1DEE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C031F-453D-4623-BDCB-49D064BE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370B1-9237-429B-BDD0-BA40763A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E5613-AAC2-47A8-A7F4-A79BEFAA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correct methods lead to false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Why are preregistration, replication and transparency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important?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can a result be statistically impressive but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epistemically weak?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6FC04-055F-4E6A-81DB-2ACFEFB6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21352399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0872D8-8172-4461-BF81-ABF69083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68D99-4E6A-4F36-9655-24D6BD4C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EB7B3-3CBC-4237-84F9-40E3028D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F01E7-1F69-4BA2-89D8-10D5F84E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9DD5A-4F5D-4BFE-A2B4-94A23E04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64A1E-5B0B-45DA-9983-CE80CA41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608CB-FCA8-4567-B990-9DC12E3B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724AD-E200-4DCF-BB5D-567B8095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344D2-ED55-48E1-8B87-AC22D084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911FB-D96C-41AB-9A78-80FF7B4C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857A8-CD70-4CED-8839-9D609F22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F07CF-706F-40C4-AF3D-0617BE45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P-hacking with Random Data: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"My first judgement felt obvious, but my evidence was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thinner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39A94-769F-4C4A-A82F-930FB343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302E8-3F76-48B1-B2B5-768DDFEA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A52B3-5074-4859-BA63-D3D11EE1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066D1-E0F5-41FE-9152-EA11B686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012808bbc43aa">
            <a:extLst>
              <a:ext uri="{96DAC541-7B7A-43D3-8B79-37D633B846F1}">
                <asvg:svgBlip xmlns:asvg="http://schemas.microsoft.com/office/drawing/2016/SVG/main" r:embed="Rfe436509cf404c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6014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146762-A84B-4555-A8CB-DDFC07DF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06A4C-CA04-4A96-AF6D-C702C632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6059E-A2B8-42E1-889D-CF041120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19039-6077-466E-96DF-54BAD3C5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EFFDC-645C-4C8D-B07E-848BD9C6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8D68B-4080-44B2-B520-6BE0972A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F1B6A-F36A-42F8-8BED-044A5B7D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8B36A-093D-49E5-BE32-0E90F662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08C94-FB3C-4862-BE2E-407C9A0B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F17F8-918D-4FAF-AD05-4BB6D8E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87A97-982D-484C-8692-59F0CA5C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511EA-4C10-4661-952C-0754D651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random scatterplot with an apparent pattern.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AE855-6983-4290-9EA7-6F162E42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852F7-E914-4D72-9D58-7EAF2E8B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31860-3F35-45FE-933F-07D75038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660A7-8DB1-40BA-A94F-7BDDB29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DEA52-1818-4A90-9D50-019309A9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CF63F-82B2-40D2-8C80-7381D6A7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0CA04-E141-4CDE-AF12-F790D3DC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F5AB2-E6DF-4AEC-8469-EA6BD2B7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Observation is Theory-Laden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Placebo Trial Design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Model Failure 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9BF834-3B4A-45FF-A150-19B56ADB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856578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2026-06-20T10:31:36.0980000Z</dcterms:created>
  <dcterms:modified xsi:type="dcterms:W3CDTF">2026-06-20T10:31:36.0980000Z</dcterms:modified>
</coreProperties>
</file>