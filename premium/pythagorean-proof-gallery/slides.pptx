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91ecc589864502" /><Relationship Type="http://schemas.openxmlformats.org/officeDocument/2006/relationships/extended-properties" Target="/docProps/app.xml" Id="R31fd45f8aaf341f0" /><Relationship Type="http://schemas.openxmlformats.org/officeDocument/2006/relationships/officeDocument" Target="/ppt/presentation.xml" Id="Rd561b7be6d7c42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77ed2124714cf8"/>
  </p:sldMasterIdLst>
  <p:notesMasterIdLst>
    <p:notesMasterId xmlns:r="http://schemas.openxmlformats.org/officeDocument/2006/relationships" r:id="Rd2281416357d4246"/>
  </p:notesMasterIdLst>
  <p:sldIdLst>
    <p:sldId xmlns:r="http://schemas.openxmlformats.org/officeDocument/2006/relationships" id="256" r:id="Rbaa252073efe4088"/>
    <p:sldId xmlns:r="http://schemas.openxmlformats.org/officeDocument/2006/relationships" id="257" r:id="R57c1a48eac9740fa"/>
    <p:sldId xmlns:r="http://schemas.openxmlformats.org/officeDocument/2006/relationships" id="258" r:id="Rdcdbc82ff7444e20"/>
    <p:sldId xmlns:r="http://schemas.openxmlformats.org/officeDocument/2006/relationships" id="259" r:id="R0299a8143fce4d45"/>
    <p:sldId xmlns:r="http://schemas.openxmlformats.org/officeDocument/2006/relationships" id="260" r:id="R88f800dafc4d4e02"/>
    <p:sldId xmlns:r="http://schemas.openxmlformats.org/officeDocument/2006/relationships" id="261" r:id="Rbfeb34f8cdd84c4b"/>
    <p:sldId xmlns:r="http://schemas.openxmlformats.org/officeDocument/2006/relationships" id="262" r:id="R899a042e48e24854"/>
    <p:sldId xmlns:r="http://schemas.openxmlformats.org/officeDocument/2006/relationships" id="263" r:id="R7bf0ad79e6f048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5a514555e495a" /><Relationship Type="http://schemas.openxmlformats.org/officeDocument/2006/relationships/slideMaster" Target="/ppt/slideMasters/slideMaster1.xml" Id="Rb277ed2124714cf8" /><Relationship Type="http://schemas.openxmlformats.org/officeDocument/2006/relationships/notesMaster" Target="/ppt/notesMasters/notesMaster1.xml" Id="Rd2281416357d4246" /><Relationship Type="http://schemas.openxmlformats.org/officeDocument/2006/relationships/presProps" Target="/ppt/presProps.xml" Id="R1889d8d3a2e945b0" /><Relationship Type="http://schemas.openxmlformats.org/officeDocument/2006/relationships/tableStyles" Target="/ppt/tableStyles.xml" Id="Rca37e52291d84974" /><Relationship Type="http://schemas.openxmlformats.org/officeDocument/2006/relationships/slide" Target="/ppt/slides/slide1.xml" Id="Rbaa252073efe4088" /><Relationship Type="http://schemas.openxmlformats.org/officeDocument/2006/relationships/slide" Target="/ppt/slides/slide2.xml" Id="R57c1a48eac9740fa" /><Relationship Type="http://schemas.openxmlformats.org/officeDocument/2006/relationships/slide" Target="/ppt/slides/slide3.xml" Id="Rdcdbc82ff7444e20" /><Relationship Type="http://schemas.openxmlformats.org/officeDocument/2006/relationships/slide" Target="/ppt/slides/slide4.xml" Id="R0299a8143fce4d45" /><Relationship Type="http://schemas.openxmlformats.org/officeDocument/2006/relationships/slide" Target="/ppt/slides/slide5.xml" Id="R88f800dafc4d4e02" /><Relationship Type="http://schemas.openxmlformats.org/officeDocument/2006/relationships/slide" Target="/ppt/slides/slide6.xml" Id="Rbfeb34f8cdd84c4b" /><Relationship Type="http://schemas.openxmlformats.org/officeDocument/2006/relationships/slide" Target="/ppt/slides/slide7.xml" Id="R899a042e48e24854" /><Relationship Type="http://schemas.openxmlformats.org/officeDocument/2006/relationships/slide" Target="/ppt/slides/slide8.xml" Id="R7bf0ad79e6f0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6c473fbb8c45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c00c4253b4483b" /><Relationship Type="http://schemas.openxmlformats.org/officeDocument/2006/relationships/notesMaster" Target="/ppt/notesMasters/notesMaster1.xml" Id="R6a5fd200346242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6e716468ac468a" /><Relationship Type="http://schemas.openxmlformats.org/officeDocument/2006/relationships/notesMaster" Target="/ppt/notesMasters/notesMaster1.xml" Id="R0f10257bf7754d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281f24a1d14eb2" /><Relationship Type="http://schemas.openxmlformats.org/officeDocument/2006/relationships/notesMaster" Target="/ppt/notesMasters/notesMaster1.xml" Id="R523883fae1a54b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f9db63711a4755" /><Relationship Type="http://schemas.openxmlformats.org/officeDocument/2006/relationships/notesMaster" Target="/ppt/notesMasters/notesMaster1.xml" Id="R15c4dcd0b4a943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ef67817d954642" /><Relationship Type="http://schemas.openxmlformats.org/officeDocument/2006/relationships/notesMaster" Target="/ppt/notesMasters/notesMaster1.xml" Id="R51423a4b146049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7b36dffa544833" /><Relationship Type="http://schemas.openxmlformats.org/officeDocument/2006/relationships/notesMaster" Target="/ppt/notesMasters/notesMaster1.xml" Id="Re35863ca11b64e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7d537fafd842e7" /><Relationship Type="http://schemas.openxmlformats.org/officeDocument/2006/relationships/notesMaster" Target="/ppt/notesMasters/notesMaster1.xml" Id="R9f218f58bff149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f1121cf89c4d14" /><Relationship Type="http://schemas.openxmlformats.org/officeDocument/2006/relationships/notesMaster" Target="/ppt/notesMasters/notesMaster1.xml" Id="Rb93911fa87a542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1bb2b202f940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49e6b527ea4750" /><Relationship Type="http://schemas.openxmlformats.org/officeDocument/2006/relationships/slideLayout" Target="/ppt/slideLayouts/slideLayout1.xml" Id="R14198b393b5f42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198b393b5f42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851ba693d441b" /><Relationship Type="http://schemas.openxmlformats.org/officeDocument/2006/relationships/image" Target="/ppt/media/image.png" Id="R41149484860448f8" /><Relationship Type="http://schemas.openxmlformats.org/officeDocument/2006/relationships/image" Target="/ppt/media/image.svg" Id="Rc7fecb563199480d" /><Relationship Type="http://schemas.openxmlformats.org/officeDocument/2006/relationships/notesSlide" Target="/ppt/notesSlides/notesSlide1.xml" Id="Ra0ac02993bb543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96a5005914a30" /><Relationship Type="http://schemas.openxmlformats.org/officeDocument/2006/relationships/notesSlide" Target="/ppt/notesSlides/notesSlide2.xml" Id="Rb57b54b5daa141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6d5c998554dd4" /><Relationship Type="http://schemas.openxmlformats.org/officeDocument/2006/relationships/image" Target="/ppt/media/image2.png" Id="Rbc83f68b1a474dd4" /><Relationship Type="http://schemas.openxmlformats.org/officeDocument/2006/relationships/image" Target="/ppt/media/image2.svg" Id="R4f8722b363e24dde" /><Relationship Type="http://schemas.openxmlformats.org/officeDocument/2006/relationships/notesSlide" Target="/ppt/notesSlides/notesSlide3.xml" Id="R037560f1ed5c47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3436a28d040fb" /><Relationship Type="http://schemas.openxmlformats.org/officeDocument/2006/relationships/notesSlide" Target="/ppt/notesSlides/notesSlide4.xml" Id="Ra8ddb75feb84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7d6c0a9d24a4e" /><Relationship Type="http://schemas.openxmlformats.org/officeDocument/2006/relationships/notesSlide" Target="/ppt/notesSlides/notesSlide5.xml" Id="R2dd758f52ced4e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40673fe2e41c2" /><Relationship Type="http://schemas.openxmlformats.org/officeDocument/2006/relationships/notesSlide" Target="/ppt/notesSlides/notesSlide6.xml" Id="Rd4045f532c0843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c5b8bf5b24ea9" /><Relationship Type="http://schemas.openxmlformats.org/officeDocument/2006/relationships/image" Target="/ppt/media/image3.png" Id="R073ad67c22ad474e" /><Relationship Type="http://schemas.openxmlformats.org/officeDocument/2006/relationships/image" Target="/ppt/media/image3.svg" Id="R75da7b1b9cbd49cd" /><Relationship Type="http://schemas.openxmlformats.org/officeDocument/2006/relationships/notesSlide" Target="/ppt/notesSlides/notesSlide7.xml" Id="R8f09ed399eb249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bcb06fdc1431e" /><Relationship Type="http://schemas.openxmlformats.org/officeDocument/2006/relationships/notesSlide" Target="/ppt/notesSlides/notesSlide8.xml" Id="Rd53f49a06e8047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B3CE6-0D9C-49D7-A180-0A7BE38C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96258-657E-443A-B773-8494742C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B59AB-F4D0-4B71-931A-FAA88C8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574DD-A7DB-46D6-8E31-FBA6D313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88F99-F6ED-469F-BE1C-10EF858A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8DD4E-E127-45D2-8949-81C5DB47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0A043-2B57-4D63-88E9-4508A1E2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Pythagorean Proof Gallery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B88E0-ABBC-47B7-A9AE-23D6ED98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49484860448f8">
            <a:extLst>
              <a:ext uri="{96DAC541-7B7A-43D3-8B79-37D633B846F1}">
                <asvg:svgBlip xmlns:asvg="http://schemas.microsoft.com/office/drawing/2016/SVG/main" r:embed="Rc7fecb56319948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775A0-48D9-4473-B3B1-87DCE763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40A5B-2FE5-433C-BBFD-D06510D4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D65A3-19F5-4D2D-A7D0-61F47B2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38A37-2B15-4814-94F0-09A65CAF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Mathematical proof is not just a result; it is a standard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for why a result must be true.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BAF48-B397-4D6C-84A3-9C8358B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66779-14BB-43A6-92C0-8D51F043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07E31-8C59-4E31-8CF9-36626B7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C06961-80DB-4DA6-9E28-F53C6248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20605422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C04C7-6A64-43F7-B008-55D43432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A97B5-4C5F-4AC7-9853-65227105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D3D31-0604-4F59-9F05-1BF28E1D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58733-52F0-4BA0-9393-D9D1AFA7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C5B57-99D0-4609-A153-D681B2C4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FCEE6-92C6-401E-AB0D-E5C86AE9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21606-0746-46E1-B682-C9961634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5BE30-A434-47AF-8BE4-BE0EBDAB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9C67F-4B8B-4C12-BCEF-179A655B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64A0-F48C-4EE8-9346-0ECF4DB0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2D1ED-FF2C-4633-9A55-6749A44F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ECFE1-A94B-4E1B-A478-B3EBC3D5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different forms of proof and the kinds of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understanding each supports.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Mathematical proof is not just a result; it is a standard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for why a result must be true.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9DE52-C3B3-480B-8D3A-B9942B6B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1F44D-24CE-46D3-81A7-E50F08AD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0B6F6-42FE-402E-A386-64D9E52F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17E9C-6713-4DB8-9474-03E44823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Three proof cards: visual rearrangement, algebraic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derivation, and verbal explanation.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evaluation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evaluation grid: assumptions, conclusion, why it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must be true, what it helps you understand.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Criteria cards: rigorous, explanatory, elegant,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memorable, generalisable.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BC367-D267-463A-ABF3-6892ED7F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8607904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63B46F-7D67-47A6-B27B-055AF78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408A4-E4B8-4F91-AF75-0336B86A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714FD-448F-42D6-8237-EDAE87C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66DE7-72A9-4F6E-9603-85A703B9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8F743-9F0F-4828-85CB-14FF10F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657DB-38AF-4EC5-9E84-0AE06C7D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C9616-CACA-43D6-A93C-D4539975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361BC-7615-451E-BD91-F3B8B194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3f68b1a474dd4">
            <a:extLst>
              <a:ext uri="{96DAC541-7B7A-43D3-8B79-37D633B846F1}">
                <asvg:svgBlip xmlns:asvg="http://schemas.microsoft.com/office/drawing/2016/SVG/main" r:embed="R4f8722b363e24d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2679-FA9B-45BB-91C1-A21A1EBD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8A6EE-B6A8-4A10-9900-A5F5F69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A1599-73B7-456F-AC26-41E80A21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BCDBA-719F-4355-BD60-DD2A2759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Pythagorean Proof Gallery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Visual rearrangement proof of a^2 + b^2 = c^2....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Pythagorean Proof Gallery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Algebraic proof card plus a verbal explanation...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68370-0974-41AD-B19A-E2549BB2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FDF580-04ED-4DE9-ACF0-DF9812C4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F6A0C-9E7E-471E-8952-955DBE3C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C3C5A-D6CD-4453-8EFD-04CD5CAA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Pythagorean Proof Gallery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Pythagorean Proof Gallery Stimulus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470469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49195-1DB8-4E80-B77A-FCB991B6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1AB44-C548-427E-B874-DE61815B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020DD-7FE3-4B6B-AAD6-A49EBC1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0B4CC-C745-43C9-886A-71F17C1E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6C81B-5176-46EE-8095-E7855342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03336-F9B3-48AA-BDFD-05DA551F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625D7-F735-4CA4-ABF8-AC10127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328D3-4D14-4A63-B03C-CCD945F9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70C01-A33D-4B2D-9C40-019B83C7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4A113-BF6D-4D43-8B85-1344BB5C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37897-3A3A-4F68-9960-7554C1CB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3213B-BB9B-44E7-9CC1-94B5827B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Display three different proofs of a^2 + b^2 = c^2.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annotate what each proof shows, assumes, and leaves unclear.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rank proofs by convincingness, explanatory power, and elegance.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compare whether their rankings changed across criteria.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why mathematical knowledge values proof rather than repeated measurement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1132B-6F95-4684-AB08-00C44CE9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11012677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A41AA-61C7-45CB-A575-4342B4AF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741F0-42D1-4222-8F58-2CF4E71A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81123-FEC7-4025-9193-0898674C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E0FF9-7ED7-4040-B133-8F33D0C4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EA82B-72BE-404D-B680-0273A9E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1A5F1-3D90-4110-9167-37A0D13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E149A-D26E-4DAF-B383-FAEA8BDA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34C26-1C53-4E81-ACFB-4FDE23C7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0CA21-FF8D-4661-AA9F-400B418C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A65BA-80F1-4815-90AE-AEB36A7F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EF708-DEB1-4C2E-92CD-D248FDF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EF5C2-8FB7-420F-A5BF-36C1DB6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D1EEF-7440-470E-9B8E-70252149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9D007-A9CD-4F9D-90AA-2E45DC3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30F4B4-3C30-444C-A331-16845E91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968A6-7A46-4854-BB3F-4BDFA548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A96B7-12A2-4FB0-BB0D-D004F691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0DE3A-0ABE-43EF-B50D-22971B58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08F73-F55C-4E10-9CCD-C7C11539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57EC8-1271-4702-B46F-581B0C43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818C3-D74D-444B-949E-206F9F1B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72CBF-F9FF-48B5-AAF9-95439992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83480-E1EF-42F3-872B-8377C215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9A34D3-4FC8-40FF-A639-F284516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C1F28-ADE5-45B1-BC18-13B59D72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1E1B2F-53FA-4F6B-97B3-04F2CEDC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B20AC7-56C1-4F9A-91AF-2F4705F3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4E2E31-73FB-41EB-8AF4-F77B758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747303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8DF4CD-BC0D-4D06-BC03-39E3099F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15C90B-8077-4288-ABF6-467ACD1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D538B-B698-4353-BAD8-DF8E68CD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F124F-F67B-4A58-8423-968CB361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89771-53CD-4F7B-924B-36D0CEE8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C4B50-0A50-499D-A7EB-CE48D3C3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AAF6E-9B80-4955-BE95-97048C0E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68472-423C-4022-BC81-2E86C562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D070E-E72C-4787-B5DF-2858357D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B4AF5-A81F-4B50-81EB-EBBF9F03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6653F-5B81-4D10-912F-DE0449CF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6EA15-26B3-46CB-9463-29BDDEF2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What makes a proof convincing?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visual proof explain better than an algebraic proof?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Is elegance a mathematical virtue or an aesthetic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E39D8-9947-4BAA-8B7C-AE758192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531A2-ED2D-48C9-81AD-FE961B20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E6F4C-8D92-4447-8BB5-427C0205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E2C79-ECE0-4F75-B7E5-94F3DB1D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mathematical proof different from empirical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confirmation?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different representations support different kinds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of understanding?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beauty play a role in mathematical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D31D0-0054-453B-BB4E-D3BC6630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6278903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70D768-A0D2-456F-8377-9216E639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121AA-D308-48CD-B2E2-154F649C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C5317-5887-4E46-BB63-096C7741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212FB-7591-4D3D-ACFF-2C988CD7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01FC7-4408-4188-A0C4-9920F0B8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21086-8A61-48A6-B914-2C442A94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69E3C-02EE-4569-99F1-4E235C1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98539-A03C-46B7-9478-4F6D2518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229369-3A05-4107-B031-AA2CECE9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22E9C-B9B7-4816-B55F-02FAC3B3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8589-5E25-4BD8-8487-A5958B6F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D2D6D-ABE0-44AB-9E03-F605C1F3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visual proof helped me understand area, but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algebraic proof felt easier to generalize.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Elegance made a proof more satisfying, but it was not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as validity.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01C30-1313-44E5-9BD4-DD13B629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C883C-43D2-4BCA-96A6-0881F087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FCC56-F674-4B47-B78C-71044D8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08DBB-7EAA-478E-8FEB-45BC7FF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a proof with many measured right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triangles and explain why measurement is insufficient.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mathematical elegance to aesthetic judgement in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arts.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ad67c22ad474e">
            <a:extLst>
              <a:ext uri="{96DAC541-7B7A-43D3-8B79-37D633B846F1}">
                <asvg:svgBlip xmlns:asvg="http://schemas.microsoft.com/office/drawing/2016/SVG/main" r:embed="R75da7b1b9cbd49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0401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A2C13-974B-4CBD-977A-C7071D10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0B164-A10D-4454-B26E-3F494E62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A9161-1521-4DFA-8C6A-A3C98A80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7C3B1-8C03-4969-A1C2-7C593925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65965-A20C-43AF-8A52-118FC413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6A4AD-6E10-495A-8CF0-D3C66C24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7C6EB-C673-4027-99AA-89EDF4F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E86EB-245E-4A86-A12C-4655B7A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FD940-9098-4D1D-A191-B2959CC3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49ADD-F49F-4979-A67D-A9F3196F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8060C-6372-4075-82D7-EECA8959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13B92-CAE5-4D9D-9D6A-994EEDA3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visual proof diagram annotated with assumptions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explanation notes.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A7500-4BBD-433C-B9AC-E5FDA304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3291C-D5CB-474D-B4D8-E7CE327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C15A3-4379-4C3D-9D04-28279B5C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195F1-3515-4091-A74D-112A3A88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697F1-6991-44D5-9DB8-8456572F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99D10-289F-406B-8BEA-176F3E03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39616-00F9-43B4-9A3A-F5C40A9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456C3-4B4C-48E2-B492-044D0DF2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Axiom Switch Universe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Calculator Trust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992C5-C791-47DC-9C7A-9959CBFC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605276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2026-06-20T10:31:41.8830000Z</dcterms:created>
  <dcterms:modified xsi:type="dcterms:W3CDTF">2026-06-20T10:31:41.8830000Z</dcterms:modified>
</coreProperties>
</file>