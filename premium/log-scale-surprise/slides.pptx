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9435cdc09f4f71" /><Relationship Type="http://schemas.openxmlformats.org/officeDocument/2006/relationships/extended-properties" Target="/docProps/app.xml" Id="Re090aa8050974c76" /><Relationship Type="http://schemas.openxmlformats.org/officeDocument/2006/relationships/officeDocument" Target="/ppt/presentation.xml" Id="R01b1424c098448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0a9865285e4033"/>
  </p:sldMasterIdLst>
  <p:notesMasterIdLst>
    <p:notesMasterId xmlns:r="http://schemas.openxmlformats.org/officeDocument/2006/relationships" r:id="R6cdfcbb28f404cbf"/>
  </p:notesMasterIdLst>
  <p:sldIdLst>
    <p:sldId xmlns:r="http://schemas.openxmlformats.org/officeDocument/2006/relationships" id="256" r:id="R1a3e3889931f469a"/>
    <p:sldId xmlns:r="http://schemas.openxmlformats.org/officeDocument/2006/relationships" id="257" r:id="Rb225cd95bb544089"/>
    <p:sldId xmlns:r="http://schemas.openxmlformats.org/officeDocument/2006/relationships" id="258" r:id="R50aa3eba9fcb40fd"/>
    <p:sldId xmlns:r="http://schemas.openxmlformats.org/officeDocument/2006/relationships" id="259" r:id="R4f0e82ebcb5f42bb"/>
    <p:sldId xmlns:r="http://schemas.openxmlformats.org/officeDocument/2006/relationships" id="260" r:id="R1d59a4dc9858425e"/>
    <p:sldId xmlns:r="http://schemas.openxmlformats.org/officeDocument/2006/relationships" id="261" r:id="R9c490a068fee45ec"/>
    <p:sldId xmlns:r="http://schemas.openxmlformats.org/officeDocument/2006/relationships" id="262" r:id="Rb1495153a9104999"/>
    <p:sldId xmlns:r="http://schemas.openxmlformats.org/officeDocument/2006/relationships" id="263" r:id="Rd3b66e8438cc4cd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70cc2bf7c049a7" /><Relationship Type="http://schemas.openxmlformats.org/officeDocument/2006/relationships/slideMaster" Target="/ppt/slideMasters/slideMaster1.xml" Id="R900a9865285e4033" /><Relationship Type="http://schemas.openxmlformats.org/officeDocument/2006/relationships/notesMaster" Target="/ppt/notesMasters/notesMaster1.xml" Id="R6cdfcbb28f404cbf" /><Relationship Type="http://schemas.openxmlformats.org/officeDocument/2006/relationships/presProps" Target="/ppt/presProps.xml" Id="R7724f9310d7e4976" /><Relationship Type="http://schemas.openxmlformats.org/officeDocument/2006/relationships/tableStyles" Target="/ppt/tableStyles.xml" Id="R91b17bf5f7ea45bc" /><Relationship Type="http://schemas.openxmlformats.org/officeDocument/2006/relationships/slide" Target="/ppt/slides/slide1.xml" Id="R1a3e3889931f469a" /><Relationship Type="http://schemas.openxmlformats.org/officeDocument/2006/relationships/slide" Target="/ppt/slides/slide2.xml" Id="Rb225cd95bb544089" /><Relationship Type="http://schemas.openxmlformats.org/officeDocument/2006/relationships/slide" Target="/ppt/slides/slide3.xml" Id="R50aa3eba9fcb40fd" /><Relationship Type="http://schemas.openxmlformats.org/officeDocument/2006/relationships/slide" Target="/ppt/slides/slide4.xml" Id="R4f0e82ebcb5f42bb" /><Relationship Type="http://schemas.openxmlformats.org/officeDocument/2006/relationships/slide" Target="/ppt/slides/slide5.xml" Id="R1d59a4dc9858425e" /><Relationship Type="http://schemas.openxmlformats.org/officeDocument/2006/relationships/slide" Target="/ppt/slides/slide6.xml" Id="R9c490a068fee45ec" /><Relationship Type="http://schemas.openxmlformats.org/officeDocument/2006/relationships/slide" Target="/ppt/slides/slide7.xml" Id="Rb1495153a9104999" /><Relationship Type="http://schemas.openxmlformats.org/officeDocument/2006/relationships/slide" Target="/ppt/slides/slide8.xml" Id="Rd3b66e8438cc4c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0d74c0511f4e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2230f1e255459c" /><Relationship Type="http://schemas.openxmlformats.org/officeDocument/2006/relationships/notesMaster" Target="/ppt/notesMasters/notesMaster1.xml" Id="R56905b4e955542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3b7c6f7359443e" /><Relationship Type="http://schemas.openxmlformats.org/officeDocument/2006/relationships/notesMaster" Target="/ppt/notesMasters/notesMaster1.xml" Id="R92d95194d4d34d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fd0df379804464" /><Relationship Type="http://schemas.openxmlformats.org/officeDocument/2006/relationships/notesMaster" Target="/ppt/notesMasters/notesMaster1.xml" Id="Rc1ce0f256b6041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613720759640e0" /><Relationship Type="http://schemas.openxmlformats.org/officeDocument/2006/relationships/notesMaster" Target="/ppt/notesMasters/notesMaster1.xml" Id="R4d7b18edd16744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d0d576d0fd4d8d" /><Relationship Type="http://schemas.openxmlformats.org/officeDocument/2006/relationships/notesMaster" Target="/ppt/notesMasters/notesMaster1.xml" Id="Rbcc94f46552340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1732db000c411d" /><Relationship Type="http://schemas.openxmlformats.org/officeDocument/2006/relationships/notesMaster" Target="/ppt/notesMasters/notesMaster1.xml" Id="Rf291db1e15ca48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00252c3bbf4f0e" /><Relationship Type="http://schemas.openxmlformats.org/officeDocument/2006/relationships/notesMaster" Target="/ppt/notesMasters/notesMaster1.xml" Id="R89fe75f4095849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d1ac98622d4423" /><Relationship Type="http://schemas.openxmlformats.org/officeDocument/2006/relationships/notesMaster" Target="/ppt/notesMasters/notesMaster1.xml" Id="R3d602fab581346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b4a676bab94d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aed8c4e6fd437a" /><Relationship Type="http://schemas.openxmlformats.org/officeDocument/2006/relationships/slideLayout" Target="/ppt/slideLayouts/slideLayout1.xml" Id="R3eefd240501e4b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efd240501e4b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9b0b7714b437e" /><Relationship Type="http://schemas.openxmlformats.org/officeDocument/2006/relationships/image" Target="/ppt/media/image.png" Id="Rfd4769ce8c5045dc" /><Relationship Type="http://schemas.openxmlformats.org/officeDocument/2006/relationships/image" Target="/ppt/media/image.svg" Id="R8b64d238a6de45f0" /><Relationship Type="http://schemas.openxmlformats.org/officeDocument/2006/relationships/notesSlide" Target="/ppt/notesSlides/notesSlide1.xml" Id="R7f443308509e4d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14b831c6e4a35" /><Relationship Type="http://schemas.openxmlformats.org/officeDocument/2006/relationships/notesSlide" Target="/ppt/notesSlides/notesSlide2.xml" Id="R08feb6bb8f8941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4cbc5e74f450e" /><Relationship Type="http://schemas.openxmlformats.org/officeDocument/2006/relationships/image" Target="/ppt/media/image2.png" Id="Rfc94042aab3b4632" /><Relationship Type="http://schemas.openxmlformats.org/officeDocument/2006/relationships/image" Target="/ppt/media/image2.svg" Id="R1feeda85557a4107" /><Relationship Type="http://schemas.openxmlformats.org/officeDocument/2006/relationships/notesSlide" Target="/ppt/notesSlides/notesSlide3.xml" Id="R53d385d9377b4c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cd0df61384efb" /><Relationship Type="http://schemas.openxmlformats.org/officeDocument/2006/relationships/notesSlide" Target="/ppt/notesSlides/notesSlide4.xml" Id="Ra678df7250664b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764ea123b4b9a" /><Relationship Type="http://schemas.openxmlformats.org/officeDocument/2006/relationships/notesSlide" Target="/ppt/notesSlides/notesSlide5.xml" Id="R48ac5ce36a844b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c230ec71b4295" /><Relationship Type="http://schemas.openxmlformats.org/officeDocument/2006/relationships/notesSlide" Target="/ppt/notesSlides/notesSlide6.xml" Id="R6127b0192ecc45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0d5ae92cc4712" /><Relationship Type="http://schemas.openxmlformats.org/officeDocument/2006/relationships/image" Target="/ppt/media/image3.png" Id="R3b071c1e6abb4f1c" /><Relationship Type="http://schemas.openxmlformats.org/officeDocument/2006/relationships/image" Target="/ppt/media/image3.svg" Id="Rc5628e7d4c914e6a" /><Relationship Type="http://schemas.openxmlformats.org/officeDocument/2006/relationships/notesSlide" Target="/ppt/notesSlides/notesSlide7.xml" Id="Re47d238e932940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643f4c56040fd" /><Relationship Type="http://schemas.openxmlformats.org/officeDocument/2006/relationships/notesSlide" Target="/ppt/notesSlides/notesSlide8.xml" Id="R2f96ab720d62445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5E34E1-7202-4501-8B13-C6F2A7E4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D512C-5F76-4097-9851-9017D7F7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3CE9B-1BAE-4197-AAD8-9575533E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2AA94-F914-47D8-BDE9-4BC615B6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4457F-947E-4613-990F-F3D2E7FF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5F8EE-4089-4738-A55A-17C5BA58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48620-AFEC-499B-BE6E-7B09E4EC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Log Scale Surprise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0B353-5421-48C8-9FE7-E7131AD7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769ce8c5045dc">
            <a:extLst>
              <a:ext uri="{96DAC541-7B7A-43D3-8B79-37D633B846F1}">
                <asvg:svgBlip xmlns:asvg="http://schemas.microsoft.com/office/drawing/2016/SVG/main" r:embed="R8b64d238a6de45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91381-13E3-42A4-A9B4-656E9617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702D4-2D6D-4A4A-B117-4C7F015D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60027-21AC-4FF4-8D82-969A13FD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44511-CC21-469E-B716-E9DBDCD9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Mathematical representations can make the same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relationship look explosive, steady, or manageable.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4660EB-87E4-4FCC-9B90-D10359A6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80811-4077-4910-9F87-4B9430A8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585D1-2211-40B8-B1C1-8F707D43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F07F7A-7D21-4601-8F99-081500DC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25-35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6334616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486329-A118-4B2D-9E81-72706356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10FA9-A7CE-40A1-8FDD-65C1D82E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D653B-BD22-459F-819E-BCA478C6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37648-5AB1-482E-9903-A65B55A1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403E5-E920-41E2-9EB2-B50393B0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2879C-D756-4A20-B594-0BED163D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3DE85D-A3B7-436E-8F1F-A2553E51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85BC4-4C62-4E9F-91B5-5EB93256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B46CE-3024-4EFB-A262-21616932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C77FF-2CE6-4EE2-A7AA-37EEB540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50F156-88D2-43C1-A671-7F38C3B5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2F796-77C6-49CF-AA10-663FB65E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explore how scale choices affect mathematical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interpretation.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Mathematical representations can make the same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relationship look explosive, steady, or manageable.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24C25-801E-41C5-A366-5C8EFDBE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AEC71-BF30-4C11-B8C9-16A65AE4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70CE3-C72B-4D69-BE65-4505ADC2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1E400-E12C-4372-8D97-6D2EFEC1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dataset that grows multiplicatively, such as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doubling values.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Linear and logarithmic graph templates.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Linear and logarithmic graph templates for the same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dataset.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Graph purpose cards: communicate urgency, compare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growth rates, inspect proportional change.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39BA5F-93CA-41BB-90F5-E93C7B93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3369165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5DCDF6-8D00-45BE-A74F-C2C02791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07A84-B4C9-4F92-9C7B-9A298302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691D7-971D-471E-BB03-14FFF8DF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ACAB5-461F-4795-9428-FA835522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17C85-6932-4388-8018-79125CCB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15B00-0F5F-4AE7-A64A-31F219EC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F3C6D-A7B8-4312-8E06-FD6392AB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1D592-CC3C-4712-9DEB-B46EF531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4042aab3b4632">
            <a:extLst>
              <a:ext uri="{96DAC541-7B7A-43D3-8B79-37D633B846F1}">
                <asvg:svgBlip xmlns:asvg="http://schemas.microsoft.com/office/drawing/2016/SVG/main" r:embed="R1feeda85557a41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CC408-5F8F-4F94-AEE0-79CF5EFA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797C1-E278-4B1C-A6E7-9BF0317C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6B33E-8A2C-4075-821E-1A4A2F31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FC6B03-24E8-4424-B359-01EB6A94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Log Scale Surprise Stimulus A: Student-facing stimulus 1: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Dataset: 1, 2, 4, 8, 16, 32, 64 over seven days. Work the...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Log Scale Surprise Stimulus B: Student-facing stimulus 2: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Question: does the graph show runaway growth, steady...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E580B-9447-4287-96E0-0FBD45F1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8F6DBD-AC23-48BE-BE0F-11AD5EC3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2AB9D-51D0-4F90-9C54-EF73EFB2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3BA62-C1E5-4E92-ABEE-ED985007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Log Scale Surprise Stimulus A, what is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Log Scale Surprise Stimulus A did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9788112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E1ABAF-795F-40AF-A709-BDD505F8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E268C-C455-4E15-BA5F-B47AFB91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53B2C-C772-4840-BBB5-A19D7863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EE6E2-8441-4E9A-A6B6-3700EB29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02FA6-0C76-434C-BCF4-E5AD2DC7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A9F67-777C-4026-93B2-9E0D6F9C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E92E3-F605-4181-90D8-245F42E2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1F325-0602-4ADB-B9C9-FB4A58BE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3D0F8-1490-4135-8D08-1BEE0DF7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25A8A-E309-4F8C-84D4-75C36495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14285-05B2-41E3-B835-AD288E12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B93B3-EE7B-4EDC-85E8-4B7984DF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students a simple growing dataset.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Groups plot or inspect the same data on a linear graph and a logarithmic graph.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Students describe the story each graph seems to tell.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Groups identify which graph is better for different purposes.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how mathematical representation affects knowledge claims.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27E66-2ECD-486B-AE18-2EB40B60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Mathemat...</a:t>
            </a:r>
          </a:p>
        </p:txBody>
      </p:sp>
    </p:spTree>
    <p:extLst>
      <p:ext uri="{BB962C8B-B14F-4D97-AF65-F5344CB8AC3E}">
        <p14:creationId xmlns:p14="http://schemas.microsoft.com/office/powerpoint/2010/main" val="8628969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DE1016-45FF-46F4-9E73-842E77A6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25AB9-9C25-47B6-8701-5A46D513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FA251-83EB-45A1-8E95-87117F65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009E6-9B2E-4133-A010-685C0916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A0382-3D3B-4BA4-A617-E11E9BF1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78E7F-F77A-4C89-8668-467A8206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588F4-2D0A-40F7-A429-78760E50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CCE18-1B8F-415E-B1E3-5E45D3F5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98205-9076-4A6C-8180-9041FCAE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149B3-2C34-4BF1-85FF-8F43FB6A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42837-9CEA-4E1D-AEF1-CC1F0EBD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8B643-F3DE-44E5-96C9-CA781545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812B7-E314-40C3-AF4E-2A319F6A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9E452-5073-45D6-BA8A-A9360084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B77F27-DC3A-4365-8B37-BA62EE9E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36334A-C45D-4651-9EAC-9AF44852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1EEDB7-B20E-4052-AF63-C9BFB500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EA0DDD-7B8D-4389-9068-9104F2DD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4E82B-4774-47E5-8D36-7CB983E7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02F17C-7E28-446C-A8AE-4A4BC148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18B972-D646-4A06-BE6B-43ADEEC7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B91084-46C8-4EAC-ABE8-2A7F3E1D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633CB4-5E6A-42E4-95EF-0883649B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60B224-F1D2-4F02-877D-25D7AB33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B81E85-CCF1-4B2C-A8CD-07E2C9FA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4E56DE-24D4-47FC-A006-09E9932A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DA70A4-440B-47D4-8046-1C687F42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64AB95-CFDD-41BD-8735-3AA0441F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7468729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06AF45-9B2C-4480-910D-8E21C1F5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6C63C-C0F5-46B9-AD7D-5456B840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846D1-D062-4646-A560-3D4E257D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5F1A1-CE7A-44EE-A619-E19E7BE6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85A66-2DE0-4028-92F5-65F99FE7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8C5E0-EFAF-4C04-86AA-27BD4CAA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F20AB-9A2B-4E8F-931A-CFEDEEAD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61F25-20DD-4673-9B41-78F6E7ED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AAEA4-7DAF-4952-B3C9-769A435D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EE1B3-E4BC-434E-8856-74114E55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242B8-C71B-4ACA-A65F-1C467E56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F5404-B474-4652-A648-016CAEAF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How does mathematical representation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shape understanding?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one graph be more truthful than another if both are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accurate?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responsibilities come with choosing a scale?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865E88-5C96-4CC2-9256-3264354E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0D5BD-6088-4CE3-830D-B58CAB68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C8164-38D3-4907-921E-A025A9AF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60F5E-2F54-4EB5-9EA7-0789249B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does mathematical representation shape understanding?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accurate graphs tell different stories?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makes a graph responsible?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48E73-3A83-4322-9DFD-56FC9B24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20219987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D82B6E-522A-486F-A655-938B1DDE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C34BD-4592-4CE7-AE59-76D3B0BA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EE404-1698-4749-A8CD-986E66B2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D82FB-37EE-4AD7-8628-EE8C6F37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2ADC9-24E5-40E2-A568-7E1D36C9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F719C-DF12-4164-BD0A-C2305E42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2AAC9-7641-40C1-8456-9120CDBF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DB3C9-9B09-494E-951F-FC3C2552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B888D-6B4F-482C-B49D-386F5121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35C71-8856-475C-8807-A395F019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775A5-8EFA-4983-9499-94113DF8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98447-6A3B-4FA1-BD45-0C88975D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linear graph made the later values dominate the story.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log graph made equal ratios look like equal steps.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ED98E-5BB4-4C13-9A01-5C60ED7C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F1AD76-5A27-42FC-8075-A88E19C2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990616-F7F7-4F5E-98E0-6F0A4516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A2468-D54E-4369-8A42-226EEBA8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find a real public graph and ask what scale would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change the visual story.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Compare scale choice with headline framing and dashboard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design.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71c1e6abb4f1c">
            <a:extLst>
              <a:ext uri="{96DAC541-7B7A-43D3-8B79-37D633B846F1}">
                <asvg:svgBlip xmlns:asvg="http://schemas.microsoft.com/office/drawing/2016/SVG/main" r:embed="Rc5628e7d4c914e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2005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33030B-28F7-46EA-A403-9DA18B4B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6A4F8-4341-494D-8A9E-2070A655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F7DE3-1820-47F1-813F-F5FD5955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C90E1-204A-4FB9-AECD-F36A5BF6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4BBDF-582B-4328-8DF2-D718FDA3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66846-00DB-4E51-B6B7-5E66E0DF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7A00C-27A0-4920-A64A-48F72737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E73AD-7348-4E97-86EE-11158099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A9D20-0290-45C7-82DB-E45B62D1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E21BB-87D8-496B-A3AD-FA597E6D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A8CDA-0669-4E4F-BDAF-D0B9F96D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B8FA8-F626-47C4-AD97-45582315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same dataset shown on linear and logarithmic scales.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1531A-B4FB-4979-B8B1-75B20D2D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6D2E3-4BEF-417D-AA6A-6EADED0E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8FA0A-43E1-4AB0-A366-0FD9D0E4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FEE3B9-37CB-45DA-BFB1-FAD021CC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495F50-5F93-4F2C-A0B7-3185EE9F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0D4AB2-1B1C-473D-B960-1B1ED9FC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093F87-4672-4082-BD98-68E5C8C3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20968C-8E2F-46E8-8517-34EE0BC2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Graph Caption Framing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Base Rate Neglect Clinic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Proof versus Pattern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5F34DB-60E2-4260-ABE0-3290DFDC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575082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2026-06-20T10:31:40.8900000Z</dcterms:created>
  <dcterms:modified xsi:type="dcterms:W3CDTF">2026-06-20T10:31:40.8900000Z</dcterms:modified>
</coreProperties>
</file>