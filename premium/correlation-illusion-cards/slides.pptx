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b58155aecc48a1" /><Relationship Type="http://schemas.openxmlformats.org/officeDocument/2006/relationships/extended-properties" Target="/docProps/app.xml" Id="Rddbd05dc340d4375" /><Relationship Type="http://schemas.openxmlformats.org/officeDocument/2006/relationships/officeDocument" Target="/ppt/presentation.xml" Id="R9cde066e610443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d83bd8bd6c4650"/>
  </p:sldMasterIdLst>
  <p:notesMasterIdLst>
    <p:notesMasterId xmlns:r="http://schemas.openxmlformats.org/officeDocument/2006/relationships" r:id="R963406297102417a"/>
  </p:notesMasterIdLst>
  <p:sldIdLst>
    <p:sldId xmlns:r="http://schemas.openxmlformats.org/officeDocument/2006/relationships" id="256" r:id="Rb94d402effcd443b"/>
    <p:sldId xmlns:r="http://schemas.openxmlformats.org/officeDocument/2006/relationships" id="257" r:id="Rabfc8a63556945ee"/>
    <p:sldId xmlns:r="http://schemas.openxmlformats.org/officeDocument/2006/relationships" id="258" r:id="R95b40a94707547ad"/>
    <p:sldId xmlns:r="http://schemas.openxmlformats.org/officeDocument/2006/relationships" id="259" r:id="R567f85eec8b0450d"/>
    <p:sldId xmlns:r="http://schemas.openxmlformats.org/officeDocument/2006/relationships" id="260" r:id="R8363ae7d323d4af7"/>
    <p:sldId xmlns:r="http://schemas.openxmlformats.org/officeDocument/2006/relationships" id="261" r:id="R78fe408c2f604a75"/>
    <p:sldId xmlns:r="http://schemas.openxmlformats.org/officeDocument/2006/relationships" id="262" r:id="R7557b83ab5e44170"/>
    <p:sldId xmlns:r="http://schemas.openxmlformats.org/officeDocument/2006/relationships" id="263" r:id="Ra13fd39ea47548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d0d71f6cd24c21" /><Relationship Type="http://schemas.openxmlformats.org/officeDocument/2006/relationships/slideMaster" Target="/ppt/slideMasters/slideMaster1.xml" Id="R65d83bd8bd6c4650" /><Relationship Type="http://schemas.openxmlformats.org/officeDocument/2006/relationships/notesMaster" Target="/ppt/notesMasters/notesMaster1.xml" Id="R963406297102417a" /><Relationship Type="http://schemas.openxmlformats.org/officeDocument/2006/relationships/presProps" Target="/ppt/presProps.xml" Id="Rc41622dfb2ca4fad" /><Relationship Type="http://schemas.openxmlformats.org/officeDocument/2006/relationships/tableStyles" Target="/ppt/tableStyles.xml" Id="R78b80f7756204ed2" /><Relationship Type="http://schemas.openxmlformats.org/officeDocument/2006/relationships/slide" Target="/ppt/slides/slide1.xml" Id="Rb94d402effcd443b" /><Relationship Type="http://schemas.openxmlformats.org/officeDocument/2006/relationships/slide" Target="/ppt/slides/slide2.xml" Id="Rabfc8a63556945ee" /><Relationship Type="http://schemas.openxmlformats.org/officeDocument/2006/relationships/slide" Target="/ppt/slides/slide3.xml" Id="R95b40a94707547ad" /><Relationship Type="http://schemas.openxmlformats.org/officeDocument/2006/relationships/slide" Target="/ppt/slides/slide4.xml" Id="R567f85eec8b0450d" /><Relationship Type="http://schemas.openxmlformats.org/officeDocument/2006/relationships/slide" Target="/ppt/slides/slide5.xml" Id="R8363ae7d323d4af7" /><Relationship Type="http://schemas.openxmlformats.org/officeDocument/2006/relationships/slide" Target="/ppt/slides/slide6.xml" Id="R78fe408c2f604a75" /><Relationship Type="http://schemas.openxmlformats.org/officeDocument/2006/relationships/slide" Target="/ppt/slides/slide7.xml" Id="R7557b83ab5e44170" /><Relationship Type="http://schemas.openxmlformats.org/officeDocument/2006/relationships/slide" Target="/ppt/slides/slide8.xml" Id="Ra13fd39ea47548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42ea94404f4a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e9f1790a754327" /><Relationship Type="http://schemas.openxmlformats.org/officeDocument/2006/relationships/notesMaster" Target="/ppt/notesMasters/notesMaster1.xml" Id="R9f8d2c262f954c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020e60903946ed" /><Relationship Type="http://schemas.openxmlformats.org/officeDocument/2006/relationships/notesMaster" Target="/ppt/notesMasters/notesMaster1.xml" Id="R5c8b0cc36c1c46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e7b10a23b94d05" /><Relationship Type="http://schemas.openxmlformats.org/officeDocument/2006/relationships/notesMaster" Target="/ppt/notesMasters/notesMaster1.xml" Id="R41f7937b353a49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c0f7f3118e452e" /><Relationship Type="http://schemas.openxmlformats.org/officeDocument/2006/relationships/notesMaster" Target="/ppt/notesMasters/notesMaster1.xml" Id="R3a76c334781a4d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562a7ead8a4f07" /><Relationship Type="http://schemas.openxmlformats.org/officeDocument/2006/relationships/notesMaster" Target="/ppt/notesMasters/notesMaster1.xml" Id="Rc9b68562e05040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dd5edf2ec54612" /><Relationship Type="http://schemas.openxmlformats.org/officeDocument/2006/relationships/notesMaster" Target="/ppt/notesMasters/notesMaster1.xml" Id="R63750889ceb644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94faf215fc461f" /><Relationship Type="http://schemas.openxmlformats.org/officeDocument/2006/relationships/notesMaster" Target="/ppt/notesMasters/notesMaster1.xml" Id="R069c04971e5a43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825fb9959a4946" /><Relationship Type="http://schemas.openxmlformats.org/officeDocument/2006/relationships/notesMaster" Target="/ppt/notesMasters/notesMaster1.xml" Id="Rf847892b8b0648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d93c56d5b42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d417911ea5447f" /><Relationship Type="http://schemas.openxmlformats.org/officeDocument/2006/relationships/slideLayout" Target="/ppt/slideLayouts/slideLayout1.xml" Id="Re52ff9514b5248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2ff9514b5248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50df855104c16" /><Relationship Type="http://schemas.openxmlformats.org/officeDocument/2006/relationships/image" Target="/ppt/media/image.png" Id="R9d7617c636ea41ba" /><Relationship Type="http://schemas.openxmlformats.org/officeDocument/2006/relationships/image" Target="/ppt/media/image.svg" Id="R4fe50fd074e64fa9" /><Relationship Type="http://schemas.openxmlformats.org/officeDocument/2006/relationships/notesSlide" Target="/ppt/notesSlides/notesSlide1.xml" Id="R0b16270333324e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f9cd06af14219" /><Relationship Type="http://schemas.openxmlformats.org/officeDocument/2006/relationships/notesSlide" Target="/ppt/notesSlides/notesSlide2.xml" Id="R82cada83e7e34e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461ba912d4889" /><Relationship Type="http://schemas.openxmlformats.org/officeDocument/2006/relationships/image" Target="/ppt/media/image2.png" Id="Rb3c21cf8aeaa42c0" /><Relationship Type="http://schemas.openxmlformats.org/officeDocument/2006/relationships/image" Target="/ppt/media/image2.svg" Id="Rfb5346b49ce34f26" /><Relationship Type="http://schemas.openxmlformats.org/officeDocument/2006/relationships/notesSlide" Target="/ppt/notesSlides/notesSlide3.xml" Id="Rb977003dc37546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943388a41446b" /><Relationship Type="http://schemas.openxmlformats.org/officeDocument/2006/relationships/notesSlide" Target="/ppt/notesSlides/notesSlide4.xml" Id="Rd795d25578b04e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77c5822ff4553" /><Relationship Type="http://schemas.openxmlformats.org/officeDocument/2006/relationships/notesSlide" Target="/ppt/notesSlides/notesSlide5.xml" Id="R030845641e164c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b70ce8e83471d" /><Relationship Type="http://schemas.openxmlformats.org/officeDocument/2006/relationships/notesSlide" Target="/ppt/notesSlides/notesSlide6.xml" Id="Rc6f7fd592bcf45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8c5f294894892" /><Relationship Type="http://schemas.openxmlformats.org/officeDocument/2006/relationships/image" Target="/ppt/media/image3.png" Id="Rb67812530cd14f82" /><Relationship Type="http://schemas.openxmlformats.org/officeDocument/2006/relationships/image" Target="/ppt/media/image3.svg" Id="R40ea0ac854ab4641" /><Relationship Type="http://schemas.openxmlformats.org/officeDocument/2006/relationships/notesSlide" Target="/ppt/notesSlides/notesSlide7.xml" Id="Rc170bb06f9ef43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48541a5214dd4" /><Relationship Type="http://schemas.openxmlformats.org/officeDocument/2006/relationships/notesSlide" Target="/ppt/notesSlides/notesSlide8.xml" Id="Re7ac31daa24742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F0D3A-DDB8-4EF8-99A0-51B426C1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C8726-B743-4DB1-BB33-04479F67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E7FD7-ED7D-4D25-8C8E-CD9B516F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0D511-542B-4446-A35E-4199B14A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4FFC5-FB8A-407F-B6C6-2A78936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81866-E279-4B50-AC7E-06BE3871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D89DF-C67F-4F35-B205-709A69B1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Correlation Illusion Cards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72585-0E03-4A27-8327-102AEE0E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617c636ea41ba">
            <a:extLst>
              <a:ext uri="{96DAC541-7B7A-43D3-8B79-37D633B846F1}">
                <asvg:svgBlip xmlns:asvg="http://schemas.microsoft.com/office/drawing/2016/SVG/main" r:embed="R4fe50fd074e64f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B59EB-67E1-47B0-A466-BA06424D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D9F94-05FF-4A4E-88CE-8381626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06A83-4D5A-45D8-BFE7-59B6B560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4FD80-0525-4DFD-8253-86A65A90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Patterns can feel meaningful before they are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mathematically justified.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396A5-B9FD-4243-8B27-D43618BA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F3807-087F-4872-B35C-25360E93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102D3-D0F0-409E-B910-68CD9742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14EAB-0CB1-413B-85BA-3BCAB230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5037941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AD414A-72F9-47B9-891B-83BBFEEA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548E7-11A5-468B-BB54-AEBAFCE5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0630F-6CEB-49C3-8BA5-111206C3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9A714-F878-4D90-B400-45F5FF55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F1DDA-E0A3-4916-BA5A-A534B915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40C92-7037-4614-99C8-4702D0F7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6E5E2-4728-463D-9F6D-B1A41A57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DF544-015C-445B-A732-86A2A95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F4754-F49B-4FB2-906B-999BE981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9B9CF-09D6-4EB8-9EEA-48E826B1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38478-ED6E-4B78-9A19-B02CC034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D91CD-3CE7-4DF4-962A-B665E2E5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perceived association with counted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Patterns can feel meaningful before they are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mathematically justified.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F064F-E571-4581-B0FD-94B8D3D0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54B8F-5496-4E7B-9290-DE775A2A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F36AE-F0B4-4E77-99A0-C965AFD7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E00C5-EE74-4073-A041-6CC00D68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Paired cards showing two variables, such as study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method and quiz result or weather and mood.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Four-cell contingency table.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Four-cell table mat for sorting all pairings.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Salience marker: students star the cards they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remembered before counting.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5BF75-55DA-4CCB-A8B7-2BFFB542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8734344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FD0A01-3EBE-42FA-A70B-9B00375C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82636-3C50-4A35-AD01-3D0BAF4B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A850B-D01F-4AE9-AF3D-516FFC37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BF4EA-2130-4D99-A74E-596CED72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4C340-5EAA-416C-9B53-2AB3DE3B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6C8B1-27C7-497C-A1EE-7C04D10A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FFB64-82B3-4A11-86F4-2386739A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5A41D-8EFE-47FF-A885-BB2BC6BE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21cf8aeaa42c0">
            <a:extLst>
              <a:ext uri="{96DAC541-7B7A-43D3-8B79-37D633B846F1}">
                <asvg:svgBlip xmlns:asvg="http://schemas.microsoft.com/office/drawing/2016/SVG/main" r:embed="Rfb5346b49ce34f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95C25-8D1E-4A21-BB84-DAA1CF46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BE3A2-335B-4DB9-A381-886859D1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376B5-C4B1-41B9-9798-B8863DCC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FECEB-0CE4-477E-ABB1-4FEEC982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Correlation Illusion Cards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Cards pair 'used flashcards / did not use...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Correlation Illusion Cards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 few vivid cards show flashcards plus high...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EF31F-B5CC-4C3C-BD61-BE7518D5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428B7-B24B-48F1-B423-F14EDFA6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70DD4-E0F1-4B45-AA7C-F7D1607C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12CA9-F48C-404E-833A-E7B2870F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Correlation Illusion Cards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Correlation Illusion Cards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76108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9A7E49-4E4F-46F7-86E1-87F6673D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5E14E-42D6-4F70-B8B1-03797C15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6AE33-36E0-4482-B520-30E99730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705CC-1C65-4BB7-A266-CC301AA6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7FDD7-B340-4C55-B0C4-E7D85E5D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C7B0C-455A-45A0-8E6E-AB0CDB08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6018C-FBAC-472E-AD9E-F5AA22EE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A253E-67A8-4C06-8AD5-D06296E2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9DB85-BD94-438D-B665-4B5D67DA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874D0-A4D3-40E2-A509-8864502B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248DE-5130-4D29-BD34-231EDB19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9308C-F853-44C8-9DC7-30B11EEA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a small set of memorable paired examples and ask students to guess the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relationship.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Give groups the full card set to sort into a four-cell table.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count all cells, not just confirming cases.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decide whether the perceived relationship survives counting.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why humans notice some pairings more than others.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7F44C-1CE2-4837-B92C-FFCEFBB0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1428125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372AD9-7EA2-4C51-B0C9-FC388083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07BDB-C9D7-456A-850F-77F92CF3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C87A6-9AB6-4B34-94AE-CFAC5EDA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4F088-07FF-40F1-9C86-0F88BA7D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65758-4580-4F20-AEDD-6B839114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1E764-AFAD-4052-B94E-3406FAC6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EE5D8-0314-4EFB-830A-5EFED0C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26731-5EBB-4553-A2F7-6BFB9082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A26DC-95B1-464D-BCED-9500A6BB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3EEBD-B46A-4860-910A-C680B138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52779-8E3E-4C5C-8426-AD30DF35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0572C-5227-4312-BD49-7B69D41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C9C39-9429-4BE2-8578-F846AF85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80343-CD9D-4F00-96E1-CEDC161A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2C081-EF25-499F-8422-5FEF1BAE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7B708-2C1B-4FE5-9F6F-A802A78C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F5986-F7E7-4CD2-A630-AD6B9786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C3675-3FEC-4E59-9D17-5E47C620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4C4FD-19A3-40C2-962D-CCCDCAC3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D8DCB-DE4E-42E9-8ADE-EFE9BA71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F8282-B0F6-4D0F-8EAC-51CB5820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A7820-44B1-4DAD-94E8-0F5003F8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79F10-EA9D-4466-A6E9-78FA77DE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0CD5C-9AF5-49CA-A468-8C8E992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125FE-7837-41C9-84A3-04EE1FFB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BC6B3-DCDD-433B-885F-4917A22F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3BCCE-113E-4BFA-9BE7-FBB13DCB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F1870-8E1F-4FC0-9ADE-3477112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7260866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85E31B-97DF-4215-AF12-F5E2C4C3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B7BD0-4FB6-4733-9844-F935F34E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643D3-0AD1-4EB0-950C-3B99E59E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6E93D-8084-420F-B355-A6DCBF1D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60706-BC2C-4EB1-9A20-955D33A3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EF4FE-09FB-4BD6-971F-D8B4E93A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B6782-630A-460C-B52E-CDC75FDD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D8918-E5A6-4EA7-9614-4050C88F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128B6-55E1-4951-955F-3223116D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62963-5C47-4CED-B393-9574C314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E2A2B-7435-484F-AF7C-79B3F889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52FE5-9C53-4428-B467-11A1B29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When does a perceived pattern become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reliable mathematical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are confirming cases often more memorable than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disconfirming cases?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should knowers protect themselves from pattern hunger?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8F172-3A50-4FD5-9499-445AB5C6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30C6A-1B5E-4F09-A009-D64FF63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F1C23-1DB3-4DC7-91D9-C8448D5B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92C54-10AC-49BF-9E9B-3FE46349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a perceived pattern become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salience and sample size affect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counting change what seems obvious?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40D0B-D8DA-442F-BC96-AA750A7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751118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19751A-91ED-4795-B321-8BF5A973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867DB-88E2-49E6-9CAB-D2F07985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6CB2C-6BE3-43D0-A82F-599A0FF9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6F51A-1CA9-46B5-A84B-62AC6EB5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99F25-6E8D-4B30-8B3E-86755A16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5756C-01EE-4774-96B1-FE35497C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FE506-9681-40E5-B2EE-F281D04B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76259-C980-4763-998C-A513D94C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EC08E-60F3-45BE-97F7-1E6B46CB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38986-4094-4D93-BA1B-92E5EC55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82CE6-D1CA-4D53-B30A-FAE2FDAB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9BDD2-5914-431B-A5C6-E8E6FD47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remembered the flashcard success stories and forgot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non-flashcard success stories.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Counting all four cells weakened the pattern I thought I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74F83-37F7-4FB3-9177-4FEA5256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7829C-DBF5-437A-A6BB-2D854C63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C2886-000D-45A8-AFB2-CA4C33EC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D9C83-E1E7-47B4-ADB0-32868A82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collect a harmless class dataset and test for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perceived versus counted patterns.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to stereotypes, health claims, or study advice.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812530cd14f82">
            <a:extLst>
              <a:ext uri="{96DAC541-7B7A-43D3-8B79-37D633B846F1}">
                <asvg:svgBlip xmlns:asvg="http://schemas.microsoft.com/office/drawing/2016/SVG/main" r:embed="R40ea0ac854ab46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782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D9DA5A-1DC8-4FF7-8B64-10A01F1E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6CC8A-FC7D-4C70-BCCA-E12E5D38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73BF8-CA20-4DEA-8D3E-0CED51E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32C6B-2A98-42F4-BEC0-C772BEC7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0F79B-F40B-4690-9A3D-08669537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3DA45-0AF8-4BF0-A494-100D1F2E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8FF2F-E662-4AB2-946B-D4F6E6BE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F8339-BF20-4098-BC8C-BC4F2D18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9164E-E77D-4ED7-87D9-6DF9DB57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60882-BBB1-442B-BD09-41A9B91B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99FD5-24B9-47FE-AB9F-9F5A2325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A514D-FD2E-47D0-AEDD-18CB27B5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four-cell table showing confirming and disconfirming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examples.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2B282-CA6A-4C21-8C1B-3ACF69CB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A3BD7-80DB-46D0-9156-4FD25B8D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64292-EAFC-4E2B-BBE6-5328F906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33E3A-9908-4ED3-BAD9-14E2AB5B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91D18-47DF-4F97-9ED3-77395259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0795D-E956-4F2A-B0E1-99CB7AA8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8BFA0-3C61-41C7-A5E1-80B90D4E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3EFE2-1638-45B7-BD33-24EDCB24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P-hacking with Random Data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Reliability Ranking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7A0BD-E7A9-4C43-82E2-841E476B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451911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2026-06-20T10:31:38.6010000Z</dcterms:created>
  <dcterms:modified xsi:type="dcterms:W3CDTF">2026-06-20T10:31:38.6010000Z</dcterms:modified>
</coreProperties>
</file>