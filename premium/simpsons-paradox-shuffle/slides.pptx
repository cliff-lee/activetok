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cb4276047d48cd" /><Relationship Type="http://schemas.openxmlformats.org/officeDocument/2006/relationships/extended-properties" Target="/docProps/app.xml" Id="Ra11a45ed760b4c6b" /><Relationship Type="http://schemas.openxmlformats.org/officeDocument/2006/relationships/officeDocument" Target="/ppt/presentation.xml" Id="R3a9789f90bec44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d21a4801143d7"/>
  </p:sldMasterIdLst>
  <p:notesMasterIdLst>
    <p:notesMasterId xmlns:r="http://schemas.openxmlformats.org/officeDocument/2006/relationships" r:id="R317a3f0e29994e31"/>
  </p:notesMasterIdLst>
  <p:sldIdLst>
    <p:sldId xmlns:r="http://schemas.openxmlformats.org/officeDocument/2006/relationships" id="256" r:id="Ra1b4c59890324934"/>
    <p:sldId xmlns:r="http://schemas.openxmlformats.org/officeDocument/2006/relationships" id="257" r:id="R83e06fca100240b3"/>
    <p:sldId xmlns:r="http://schemas.openxmlformats.org/officeDocument/2006/relationships" id="258" r:id="R8f119dff30374c0b"/>
    <p:sldId xmlns:r="http://schemas.openxmlformats.org/officeDocument/2006/relationships" id="259" r:id="R7be276460fe54e50"/>
    <p:sldId xmlns:r="http://schemas.openxmlformats.org/officeDocument/2006/relationships" id="260" r:id="R9b04303859bb4c62"/>
    <p:sldId xmlns:r="http://schemas.openxmlformats.org/officeDocument/2006/relationships" id="261" r:id="R42a3751019cb4f7c"/>
    <p:sldId xmlns:r="http://schemas.openxmlformats.org/officeDocument/2006/relationships" id="262" r:id="Rf3f0d0cb0a4a4101"/>
    <p:sldId xmlns:r="http://schemas.openxmlformats.org/officeDocument/2006/relationships" id="263" r:id="Rbae11beea7664a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1d692fa4c4d63" /><Relationship Type="http://schemas.openxmlformats.org/officeDocument/2006/relationships/slideMaster" Target="/ppt/slideMasters/slideMaster1.xml" Id="R0b7d21a4801143d7" /><Relationship Type="http://schemas.openxmlformats.org/officeDocument/2006/relationships/notesMaster" Target="/ppt/notesMasters/notesMaster1.xml" Id="R317a3f0e29994e31" /><Relationship Type="http://schemas.openxmlformats.org/officeDocument/2006/relationships/presProps" Target="/ppt/presProps.xml" Id="Rd0adb53fe75340c1" /><Relationship Type="http://schemas.openxmlformats.org/officeDocument/2006/relationships/tableStyles" Target="/ppt/tableStyles.xml" Id="Ra1aaaa4359ca4df5" /><Relationship Type="http://schemas.openxmlformats.org/officeDocument/2006/relationships/slide" Target="/ppt/slides/slide1.xml" Id="Ra1b4c59890324934" /><Relationship Type="http://schemas.openxmlformats.org/officeDocument/2006/relationships/slide" Target="/ppt/slides/slide2.xml" Id="R83e06fca100240b3" /><Relationship Type="http://schemas.openxmlformats.org/officeDocument/2006/relationships/slide" Target="/ppt/slides/slide3.xml" Id="R8f119dff30374c0b" /><Relationship Type="http://schemas.openxmlformats.org/officeDocument/2006/relationships/slide" Target="/ppt/slides/slide4.xml" Id="R7be276460fe54e50" /><Relationship Type="http://schemas.openxmlformats.org/officeDocument/2006/relationships/slide" Target="/ppt/slides/slide5.xml" Id="R9b04303859bb4c62" /><Relationship Type="http://schemas.openxmlformats.org/officeDocument/2006/relationships/slide" Target="/ppt/slides/slide6.xml" Id="R42a3751019cb4f7c" /><Relationship Type="http://schemas.openxmlformats.org/officeDocument/2006/relationships/slide" Target="/ppt/slides/slide7.xml" Id="Rf3f0d0cb0a4a4101" /><Relationship Type="http://schemas.openxmlformats.org/officeDocument/2006/relationships/slide" Target="/ppt/slides/slide8.xml" Id="Rbae11beea766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ec7d3d47042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06dcfff8749fa" /><Relationship Type="http://schemas.openxmlformats.org/officeDocument/2006/relationships/notesMaster" Target="/ppt/notesMasters/notesMaster1.xml" Id="Ra5c8b6a72afa41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b0649edc649af" /><Relationship Type="http://schemas.openxmlformats.org/officeDocument/2006/relationships/notesMaster" Target="/ppt/notesMasters/notesMaster1.xml" Id="R08b396e5749245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fa2b9158346c1" /><Relationship Type="http://schemas.openxmlformats.org/officeDocument/2006/relationships/notesMaster" Target="/ppt/notesMasters/notesMaster1.xml" Id="Ref3053e14a69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d71642d974a8c" /><Relationship Type="http://schemas.openxmlformats.org/officeDocument/2006/relationships/notesMaster" Target="/ppt/notesMasters/notesMaster1.xml" Id="Rb3219293cc564b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c89c929404460" /><Relationship Type="http://schemas.openxmlformats.org/officeDocument/2006/relationships/notesMaster" Target="/ppt/notesMasters/notesMaster1.xml" Id="R1ddd72e299de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596d4bbd240e7" /><Relationship Type="http://schemas.openxmlformats.org/officeDocument/2006/relationships/notesMaster" Target="/ppt/notesMasters/notesMaster1.xml" Id="R97e968e67135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1ea29ce00b48a8" /><Relationship Type="http://schemas.openxmlformats.org/officeDocument/2006/relationships/notesMaster" Target="/ppt/notesMasters/notesMaster1.xml" Id="R39325a59101644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281d3d4b784dd9" /><Relationship Type="http://schemas.openxmlformats.org/officeDocument/2006/relationships/notesMaster" Target="/ppt/notesMasters/notesMaster1.xml" Id="Rf1e63bdb6292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d59a4b60b4a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4598c67614413" /><Relationship Type="http://schemas.openxmlformats.org/officeDocument/2006/relationships/slideLayout" Target="/ppt/slideLayouts/slideLayout1.xml" Id="R6f6c2ee47c9443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c2ee47c9443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ca20eb96544f3" /><Relationship Type="http://schemas.openxmlformats.org/officeDocument/2006/relationships/image" Target="/ppt/media/image.png" Id="R38f672f331ae4d1f" /><Relationship Type="http://schemas.openxmlformats.org/officeDocument/2006/relationships/image" Target="/ppt/media/image.svg" Id="R49d29b9d83914f5f" /><Relationship Type="http://schemas.openxmlformats.org/officeDocument/2006/relationships/notesSlide" Target="/ppt/notesSlides/notesSlide1.xml" Id="Rb04c1f5a6f404b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0fb88ce54d57" /><Relationship Type="http://schemas.openxmlformats.org/officeDocument/2006/relationships/notesSlide" Target="/ppt/notesSlides/notesSlide2.xml" Id="R8653e7a3687a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c3cfe092419e" /><Relationship Type="http://schemas.openxmlformats.org/officeDocument/2006/relationships/image" Target="/ppt/media/image2.png" Id="Rd4d23c4bf0b84693" /><Relationship Type="http://schemas.openxmlformats.org/officeDocument/2006/relationships/image" Target="/ppt/media/image2.svg" Id="R42e0b5d1736d4b66" /><Relationship Type="http://schemas.openxmlformats.org/officeDocument/2006/relationships/notesSlide" Target="/ppt/notesSlides/notesSlide3.xml" Id="R50ce9386114d47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ee30756344e33" /><Relationship Type="http://schemas.openxmlformats.org/officeDocument/2006/relationships/notesSlide" Target="/ppt/notesSlides/notesSlide4.xml" Id="Re00b6d1c50414d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c171aa644b30" /><Relationship Type="http://schemas.openxmlformats.org/officeDocument/2006/relationships/notesSlide" Target="/ppt/notesSlides/notesSlide5.xml" Id="R553ba14f7a15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9edb0646c429c" /><Relationship Type="http://schemas.openxmlformats.org/officeDocument/2006/relationships/notesSlide" Target="/ppt/notesSlides/notesSlide6.xml" Id="R53b27885fb91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0fa28443d49d3" /><Relationship Type="http://schemas.openxmlformats.org/officeDocument/2006/relationships/image" Target="/ppt/media/image3.png" Id="R6554e87f86ba4aca" /><Relationship Type="http://schemas.openxmlformats.org/officeDocument/2006/relationships/image" Target="/ppt/media/image3.svg" Id="R08b8139f01b649ed" /><Relationship Type="http://schemas.openxmlformats.org/officeDocument/2006/relationships/notesSlide" Target="/ppt/notesSlides/notesSlide7.xml" Id="Rdf7730edcba1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92aea61d84d6a" /><Relationship Type="http://schemas.openxmlformats.org/officeDocument/2006/relationships/notesSlide" Target="/ppt/notesSlides/notesSlide8.xml" Id="R1bda7eba181e42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17A68-E0CF-40A6-8810-F9CCABED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518BF-5E8D-4DEF-9123-DA8473F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68B02-94D8-4648-B563-9A1475EA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1CE66-0B00-4A21-8419-9D103A7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583D4-0D2D-40F8-BD80-12FA4B05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D84C5-8886-4351-8FFE-266F6152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610DD-554D-4809-8334-FE7ED1D6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Simpson's Paradox Shuffle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6827-6887-47AD-A3C8-38D39A3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672f331ae4d1f">
            <a:extLst>
              <a:ext uri="{96DAC541-7B7A-43D3-8B79-37D633B846F1}">
                <asvg:svgBlip xmlns:asvg="http://schemas.microsoft.com/office/drawing/2016/SVG/main" r:embed="R49d29b9d83914f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531EA-FE65-4E21-A0BA-79BD7CE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DD6FA-3721-499B-8311-603A020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D1A7B-09F2-4BD8-B369-223FBFC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F2250-DC96-4C3B-827E-55706E2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Aggregated data can hide subgroup structure; mathematical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knowledge depends on how cases are grouped.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D65EC-23F9-4E93-ADBB-96B57183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A66FB-2250-4DEC-ABB1-DA94564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B72AB-5D5A-4318-9F56-03FEA556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FFCD1-F024-4C82-8656-49D5CE86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9043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49D68-E799-4B90-9AA2-2541BBB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52735-F8DD-4DE0-8FA5-BCB52C97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B26CF-A1EB-49BF-BA2C-E69AA00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A4372-A5BF-4BC4-A977-CC74274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CD62F-F56D-4217-B7A3-96BCF36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90E1-7EDE-480E-8F45-EFB47A42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E29F6-6CFE-4C8D-B09A-3732EC5A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BA1F2-67F6-4EFF-8211-AAFA09A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87331-9CB1-4FB7-85DB-9A162207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234B3-8F05-4A97-A9CF-8F5C5A24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46C0C-C929-4CDE-A116-0DFDD770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B11E5-068B-4B10-911F-CCCF6FB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that the same dataset can support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different-looking claims at different levels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aggregation.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Aggregated data can hide subgroup structure; mathematical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depends on how cases are grouped.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E6BBB-7653-4BD1-BE00-E2D3B43E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D3D27-84AE-4119-AB15-ADE8B33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6D4D8-F566-4AC3-B6D0-E35DC82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F4C56-CBAE-4789-BFF2-4164282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Subgroup success-rate cards for two fictional study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methods.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Aggregation mat with subgroup and overall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Subgroup sorting mat: Group 1, Group 2, overall total.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Responsible headline checklist: sample size, subgroup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balance, denominator, and audience.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58772-4A5E-4BD9-9FD3-5C61B907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3351045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2C90A-E707-4605-94C4-3ED97E2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C743C-6534-4C45-9FCD-9C77ECB6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7556A-0B27-4979-A417-6B50E46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20414-0DA0-444A-ABC4-4C478839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73F2-AABE-4CDB-876D-9739B9B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9F249-D8F0-4706-98CF-3B5C77E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AB1EB-E1C3-4A39-B138-C687581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F160B-5FB3-4441-A2AC-7E186F20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23c4bf0b84693">
            <a:extLst>
              <a:ext uri="{96DAC541-7B7A-43D3-8B79-37D633B846F1}">
                <asvg:svgBlip xmlns:asvg="http://schemas.microsoft.com/office/drawing/2016/SVG/main" r:embed="R42e0b5d1736d4b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16922-4F70-4555-9ED4-0BAF53B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40A3D-613D-49E3-82D0-B8AD2B6A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EE898-3E32-4C14-B8C9-385DA75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F6B94-6DF3-44FA-9847-93F62CC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Simpson's Paradox Shuffle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Method A beats Method B overall, but Method B...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Simpson's Paradox Shuffle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Headline card: 'Method A has the higher...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84B28-11AA-4E78-9B07-F4F658F5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F94A1-D864-4CF4-89D8-CCD4BF5D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C8643-0509-4BFA-8F8B-6A32453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75E6F-A889-4F40-B3CB-8BD4D4A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Simpson's Paradox Shuffle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Simpson's Paradox Shuffle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06272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36600-F573-41E3-91B1-002B820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04345-464F-4644-BC1A-6B235C0D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6FF6E-B4A1-4D3E-8D92-B87283EE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2081-A788-42BA-8EC3-405825F4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06E55-8783-4D60-A1A2-37488B2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40D2E-109A-41F8-97DD-0B477E68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D32B-DC12-461D-932F-BCD9967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B65F3-BFA0-4EC7-B9C9-5BC2970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46295-056D-47E5-BDDC-301F19D7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20225-B6E0-487C-B861-8D4BEA6E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25337-FBF5-4656-8AED-2E59E56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D6889-1080-45A2-A4EF-4620DDC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cards for two methods split across two subgroups.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calculate or compare success rates inside each subgroup.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combine the cards and calculate the overall rate.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the reversal and ask which claim is more responsible.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a mathematically accurate headline can still mislead.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CFB28-5BEE-4C67-8CE2-173AF70A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6217990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B2C0E-6C23-48E5-8DD9-882969B1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2EB0A-392C-4141-950B-2B0D3DAC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2F0A-A2C6-4F57-B2CB-29506C16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23B4C-89FC-4160-ABA4-592A580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D4F47-84ED-4AC4-A1FC-FDE7FD4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86555-58E1-4DCA-B11C-A9EA5EE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7B123-D45B-4630-8DB6-469AC0D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20B95-8C05-4739-AA60-3AD1AAF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8949C-46D4-4873-851A-E44A4F43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8F1CC-E82A-480D-9574-4007BBA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23861-A84C-4AA5-8D6C-C6A00966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25E43-29F7-47A9-9531-91A9762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9CA7-6643-4406-813E-046CA8F4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6C90A-80BC-4B06-AA46-1FBD66FC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3B20E-AAEE-49DD-9672-59A86B2E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2B0A6-3C36-4708-A709-D0167804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20267-BBD6-4E38-A6EF-F098ED1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E5B4D-DC9A-45C8-A553-BE619F5E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D6764-E257-42FE-B0FF-CECA1F8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E2A98-EA1A-429F-943E-5EDA6E0D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60AA3-A54E-4B32-AEBC-56AC42CE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97B7F-C241-4E41-93B2-52FDA110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321C1-B98D-4A84-A830-77E56F0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24C64-564D-49A7-A982-83A9472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0A8F9-A177-46B7-854D-9DD81F1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DB52B-4ACB-46E2-AD75-240E391A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26222-ED72-4DAE-B2AD-4A9298A4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9F1FE-F925-4819-9421-A8266D5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561095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07A8B-F0D3-4DAD-89A6-0023539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1123A-0146-4EE9-8D8D-CD21AADF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828A3-7B48-4A50-B903-0B20A3C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9273-1198-41E1-AD0E-1D1BF36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C855-6B00-44E9-BDC2-1B3D6B2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67D9-D8E2-4DBF-9013-5DB7885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77C20-2912-4CA4-A0D8-B56A7B03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AE9B0-2A04-4A25-9BEC-C546FA47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4258D-828F-4129-B8D2-B66EA217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1BD1E-AA56-4350-83A7-290251D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F4D20-56D7-4042-8783-2EFC154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529D9-1346-4F89-B2B1-B45569D7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correct calculations produce a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misleading knowledge claim?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data be aggregated, and when should it be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separated?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categories and grouping decisions shape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mathematical evidence?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2B0D7-9FDF-4A20-B7B8-36E7EB2A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A77F0-BC98-4273-BDAD-3DAB0A1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6FB1A-2858-49D5-8F93-E1A2B90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EACA7-BCFF-481C-B2D8-174BA39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grouping choices shape statistical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data comparison fair?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correct average hide a more important truth?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0A7B2-F2AD-4B80-826E-DDABA1B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1347556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232C0-0D45-4FAC-878F-F03B8EB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F7D61-4020-4EFB-951B-C8FD0EA7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72ACD-0AFC-4F6B-8069-189FBBC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92187-DB47-43A5-9306-ECEF73B6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DE822-C7F0-4F01-B9A5-DF843B2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4625E-8531-4D99-A7A3-AF6D19A8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CD14D-6D09-4525-AD52-E0657DD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FBB-073E-453A-AD92-6E82D6E8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97262-05C9-473A-B539-3B3A1E29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A25A4-055A-4712-9E21-352C7F62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268C8-6777-43CA-9846-6844F52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8022C-A48C-452D-AD61-92B50EA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overall rate hid that one method was used more often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 the easier subgroup.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same numbers supported a different claim after we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grouped them responsibly.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A6685-5D43-471B-A9E3-7277577F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F2657-4CD0-4780-B7D1-A235962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105AD-AAC7-414E-B0AF-D6DE868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63A9-F7F6-46FF-BAA9-A7CD39C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create a simple fictional dataset where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aggregation changes the apparent story.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the paradox to admissions, medicine, sport,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school data.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e87f86ba4aca">
            <a:extLst>
              <a:ext uri="{96DAC541-7B7A-43D3-8B79-37D633B846F1}">
                <asvg:svgBlip xmlns:asvg="http://schemas.microsoft.com/office/drawing/2016/SVG/main" r:embed="R08b8139f01b649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2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59732-5940-467D-BAB0-31852B2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07630-2CC5-4FF8-A97D-B874E20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2E9D-FE08-4AD5-910A-73BD6AF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D544-EDD0-4D69-BBE3-1B29B79F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558B7-0ECE-4A61-910D-A18E2EC2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CD60-6D7D-4AC2-BA56-73477DA3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00D5E-C717-4883-8C4B-C9B527CB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21435-94D0-4E61-8B71-76B38A2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4873A-E647-416E-9366-484CEB31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2B400-3208-4BC2-A317-DE877E4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96FF4-874E-440C-8936-2704FBB7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A55F3-7E08-434C-B34D-C667235C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subgroup table where the overall trend reverses the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within-group trend.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D7FE2-5C67-41FB-971E-4DBAE72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D2797-CD91-450E-BF0D-EB62597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591A6-F6AC-4AC4-B13C-71C8189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EDADC-3A84-43ED-8C0C-3FEBC8F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18977-AF00-43C8-9B16-435EA92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E861F-784E-45FF-B992-AEDB858D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4F21B-4062-47B6-B01F-26D79D5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840B1-9FA1-4D7E-84DE-8072AA7E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Correlation Illusion Cards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Average Trap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10AEF-8328-4668-AAF3-6246168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41656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2026-06-20T10:31:41.5920000Z</dcterms:created>
  <dcterms:modified xsi:type="dcterms:W3CDTF">2026-06-20T10:31:41.5920000Z</dcterms:modified>
</coreProperties>
</file>