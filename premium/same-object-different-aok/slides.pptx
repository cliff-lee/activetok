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ad55de8a4634eac" /><Relationship Type="http://schemas.openxmlformats.org/officeDocument/2006/relationships/extended-properties" Target="/docProps/app.xml" Id="R4e548da180c44daf" /><Relationship Type="http://schemas.openxmlformats.org/officeDocument/2006/relationships/officeDocument" Target="/ppt/presentation.xml" Id="R11bde92da7df47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1cafcffa12d4dec"/>
  </p:sldMasterIdLst>
  <p:notesMasterIdLst>
    <p:notesMasterId xmlns:r="http://schemas.openxmlformats.org/officeDocument/2006/relationships" r:id="R1db24a94e5094be3"/>
  </p:notesMasterIdLst>
  <p:sldIdLst>
    <p:sldId xmlns:r="http://schemas.openxmlformats.org/officeDocument/2006/relationships" id="256" r:id="R0254c3a2baa545d3"/>
    <p:sldId xmlns:r="http://schemas.openxmlformats.org/officeDocument/2006/relationships" id="257" r:id="R0a99f4f3707f4051"/>
    <p:sldId xmlns:r="http://schemas.openxmlformats.org/officeDocument/2006/relationships" id="258" r:id="R6013b28add7a4c6a"/>
    <p:sldId xmlns:r="http://schemas.openxmlformats.org/officeDocument/2006/relationships" id="259" r:id="R968c6efba8634a34"/>
    <p:sldId xmlns:r="http://schemas.openxmlformats.org/officeDocument/2006/relationships" id="260" r:id="Rd8396cbde0b84c54"/>
    <p:sldId xmlns:r="http://schemas.openxmlformats.org/officeDocument/2006/relationships" id="261" r:id="R08837706c2464e01"/>
    <p:sldId xmlns:r="http://schemas.openxmlformats.org/officeDocument/2006/relationships" id="262" r:id="R771e217624ae4d3e"/>
    <p:sldId xmlns:r="http://schemas.openxmlformats.org/officeDocument/2006/relationships" id="263" r:id="Rf8088051f641456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03302ddc144743" /><Relationship Type="http://schemas.openxmlformats.org/officeDocument/2006/relationships/slideMaster" Target="/ppt/slideMasters/slideMaster1.xml" Id="R21cafcffa12d4dec" /><Relationship Type="http://schemas.openxmlformats.org/officeDocument/2006/relationships/notesMaster" Target="/ppt/notesMasters/notesMaster1.xml" Id="R1db24a94e5094be3" /><Relationship Type="http://schemas.openxmlformats.org/officeDocument/2006/relationships/presProps" Target="/ppt/presProps.xml" Id="R5af45df5807f4a68" /><Relationship Type="http://schemas.openxmlformats.org/officeDocument/2006/relationships/tableStyles" Target="/ppt/tableStyles.xml" Id="Ra14d4eed595a42da" /><Relationship Type="http://schemas.openxmlformats.org/officeDocument/2006/relationships/slide" Target="/ppt/slides/slide1.xml" Id="R0254c3a2baa545d3" /><Relationship Type="http://schemas.openxmlformats.org/officeDocument/2006/relationships/slide" Target="/ppt/slides/slide2.xml" Id="R0a99f4f3707f4051" /><Relationship Type="http://schemas.openxmlformats.org/officeDocument/2006/relationships/slide" Target="/ppt/slides/slide3.xml" Id="R6013b28add7a4c6a" /><Relationship Type="http://schemas.openxmlformats.org/officeDocument/2006/relationships/slide" Target="/ppt/slides/slide4.xml" Id="R968c6efba8634a34" /><Relationship Type="http://schemas.openxmlformats.org/officeDocument/2006/relationships/slide" Target="/ppt/slides/slide5.xml" Id="Rd8396cbde0b84c54" /><Relationship Type="http://schemas.openxmlformats.org/officeDocument/2006/relationships/slide" Target="/ppt/slides/slide6.xml" Id="R08837706c2464e01" /><Relationship Type="http://schemas.openxmlformats.org/officeDocument/2006/relationships/slide" Target="/ppt/slides/slide7.xml" Id="R771e217624ae4d3e" /><Relationship Type="http://schemas.openxmlformats.org/officeDocument/2006/relationships/slide" Target="/ppt/slides/slide8.xml" Id="Rf8088051f64145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22753151bc49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b166d54344987" /><Relationship Type="http://schemas.openxmlformats.org/officeDocument/2006/relationships/notesMaster" Target="/ppt/notesMasters/notesMaster1.xml" Id="R815cd1ccd6374cf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788bbfce694f49" /><Relationship Type="http://schemas.openxmlformats.org/officeDocument/2006/relationships/notesMaster" Target="/ppt/notesMasters/notesMaster1.xml" Id="R42e5e3b6e3d84cd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992bd12c0a4121" /><Relationship Type="http://schemas.openxmlformats.org/officeDocument/2006/relationships/notesMaster" Target="/ppt/notesMasters/notesMaster1.xml" Id="R7b0f7b6d0f7242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dd1e61f82d44049" /><Relationship Type="http://schemas.openxmlformats.org/officeDocument/2006/relationships/notesMaster" Target="/ppt/notesMasters/notesMaster1.xml" Id="R7c3e5a0d2be549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830e0b487c4592" /><Relationship Type="http://schemas.openxmlformats.org/officeDocument/2006/relationships/notesMaster" Target="/ppt/notesMasters/notesMaster1.xml" Id="R3f44584d592145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9909cbc2834e75" /><Relationship Type="http://schemas.openxmlformats.org/officeDocument/2006/relationships/notesMaster" Target="/ppt/notesMasters/notesMaster1.xml" Id="R045d4630a7a54a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a11484357774226" /><Relationship Type="http://schemas.openxmlformats.org/officeDocument/2006/relationships/notesMaster" Target="/ppt/notesMasters/notesMaster1.xml" Id="Re4d7b429e6454c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225aae0f3fc4a72" /><Relationship Type="http://schemas.openxmlformats.org/officeDocument/2006/relationships/notesMaster" Target="/ppt/notesMasters/notesMaster1.xml" Id="Raa6472e144f1430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5f5b860fdb47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1faea7596b4c63" /><Relationship Type="http://schemas.openxmlformats.org/officeDocument/2006/relationships/slideLayout" Target="/ppt/slideLayouts/slideLayout1.xml" Id="R0c12ad77027249f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12ad77027249f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326b3136f8497f" /><Relationship Type="http://schemas.openxmlformats.org/officeDocument/2006/relationships/image" Target="/ppt/media/image.png" Id="Rd2dd24b3ffef403f" /><Relationship Type="http://schemas.openxmlformats.org/officeDocument/2006/relationships/image" Target="/ppt/media/image.svg" Id="Rdc8beaef8b05434e" /><Relationship Type="http://schemas.openxmlformats.org/officeDocument/2006/relationships/notesSlide" Target="/ppt/notesSlides/notesSlide1.xml" Id="R5810ed1dd628414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a8042b430495e" /><Relationship Type="http://schemas.openxmlformats.org/officeDocument/2006/relationships/notesSlide" Target="/ppt/notesSlides/notesSlide2.xml" Id="R1dcda8a044fb45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f1ca77d414fa3" /><Relationship Type="http://schemas.openxmlformats.org/officeDocument/2006/relationships/image" Target="/ppt/media/image2.png" Id="Rfa6e8c0908234511" /><Relationship Type="http://schemas.openxmlformats.org/officeDocument/2006/relationships/image" Target="/ppt/media/image2.svg" Id="R90629cf9d70942a3" /><Relationship Type="http://schemas.openxmlformats.org/officeDocument/2006/relationships/notesSlide" Target="/ppt/notesSlides/notesSlide3.xml" Id="Ra2798d1f53d74b3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69c5ecb9c44fba" /><Relationship Type="http://schemas.openxmlformats.org/officeDocument/2006/relationships/notesSlide" Target="/ppt/notesSlides/notesSlide4.xml" Id="R26596d224d614ae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dadbe70fb4e37" /><Relationship Type="http://schemas.openxmlformats.org/officeDocument/2006/relationships/notesSlide" Target="/ppt/notesSlides/notesSlide5.xml" Id="R094fff74947f46f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98a06689294010" /><Relationship Type="http://schemas.openxmlformats.org/officeDocument/2006/relationships/notesSlide" Target="/ppt/notesSlides/notesSlide6.xml" Id="R5d754534db8547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99c3ae69f4b4b" /><Relationship Type="http://schemas.openxmlformats.org/officeDocument/2006/relationships/image" Target="/ppt/media/image3.png" Id="R732b860d17994866" /><Relationship Type="http://schemas.openxmlformats.org/officeDocument/2006/relationships/image" Target="/ppt/media/image3.svg" Id="R1c45982e9e364355" /><Relationship Type="http://schemas.openxmlformats.org/officeDocument/2006/relationships/notesSlide" Target="/ppt/notesSlides/notesSlide7.xml" Id="R43f0bc7aaaa043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2bd6c4a47d446c" /><Relationship Type="http://schemas.openxmlformats.org/officeDocument/2006/relationships/notesSlide" Target="/ppt/notesSlides/notesSlide8.xml" Id="Rb1fde89c8276423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C837FD6-43E6-42FB-8AC3-C83E4580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BC5B14-C136-421B-B497-155C50BB6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F1F3D8-3ED6-4FBC-994B-5F87C716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2A5EA-84DC-49BC-AEB7-AB00A31F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AD0E-4790-4EAE-B47E-43571B71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1/8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117DBE-5545-40FF-9EB5-426919D5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110A0-4304-473A-ABFD-B31E207B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68580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Same Object, Different AOK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E690DC-E598-44C7-A971-2D1E0EC4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8382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Student-facing slide deck draft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d24b3ffef403f">
            <a:extLst>
              <a:ext uri="{96DAC541-7B7A-43D3-8B79-37D633B846F1}">
                <asvg:svgBlip xmlns:asvg="http://schemas.microsoft.com/office/drawing/2016/SVG/main" r:embed="Rdc8beaef8b05434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953375" y="1028700"/>
            <a:ext cx="3143250" cy="19526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2F41EB-3772-4A42-80DB-75EE69908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6191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D7BFBE-950C-47D7-9803-840577309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E0B3DF-EC57-461E-BD31-7DFC1857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52800"/>
            <a:ext cx="573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Big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B01AA5-0C79-44DF-8251-DF1A7495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52850"/>
            <a:ext cx="569595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One object can carry many kinds of knowledge.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7B33B-2E01-4D3B-834C-FDEE150C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38100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04BE0-2A42-4C7C-8D19-7BE21219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43250"/>
            <a:ext cx="7620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87DB3F-86E1-4AD2-8566-30F65060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352800"/>
            <a:ext cx="3352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Use In Class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F1BB5D-9361-4B04-A623-28487E67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4275" y="3752850"/>
            <a:ext cx="33147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Time: 30-40 min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Difficulty: Medium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Resource: free now</a:t>
            </a:r>
          </a:p>
        </p:txBody>
      </p:sp>
    </p:spTree>
    <p:extLst>
      <p:ext uri="{BB962C8B-B14F-4D97-AF65-F5344CB8AC3E}">
        <p14:creationId xmlns:p14="http://schemas.microsoft.com/office/powerpoint/2010/main" val="42158980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E2D19C-9C8C-4941-964F-43BF7E03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1DC03-3AE6-472B-93B5-B9CD5106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722E88-0ADA-40A9-82E6-8D57B73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ABCB1-D23B-4934-9DE0-A1143C68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22B141-6C83-47B0-8BD2-0FF786744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2/8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BB96EC-223B-4499-9689-A039BDE3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B0C0B6-528B-44FE-B6DC-34531F93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Purpose &amp;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2EF247-7F40-4797-B252-2312A189D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this before students move into TOK analysis.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A7802-5DBF-448C-A199-5F412D9F9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6693-4E1E-4339-86F5-238139675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56C496-6D40-446A-A1B4-D1698DBC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Learning Focus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002804-1B64-416A-BCAD-8F4BA779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4648200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Students prepare for exhibition-style thinking by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analysing one object through many knowledge lenses.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object can carry many kinds of knowledge.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A407A8-6E8B-405F-BD46-FF0B3A9B3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905375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719559-668C-4E9D-9683-CF9140CD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762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2301DA-557C-4B44-AB36-3A208BD3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Materials &amp; Run Kit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436FF6-75C7-40E4-9F15-40AE30A6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62225"/>
            <a:ext cx="441007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One object: smartphone, mask, coin, map, photograph,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textbook, poem, calculator, family recipe or AI...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Printable student worksheet with observation,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inference, evidence, and confidence columns.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Teacher notes with setup checklist, sample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facilitation language, misconceptions, and assessment...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312D6-9C8B-4D7B-9E92-7477A212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10382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65F"/>
            </a:solidFill>
            <a:prstDash val="solid"/>
          </a:ln>
        </p:spPr>
        <p:txBody>
          <a:bodyPr xmlns:a="http://schemas.openxmlformats.org/drawingml/2006/main" lIns="171450" tIns="95250" rIns="171450" bIns="762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Teacher move: ask for a private first judgement before discussion so students can notice how knowledge is formed, revised, and justified.</a:t>
            </a:r>
          </a:p>
        </p:txBody>
      </p:sp>
    </p:spTree>
    <p:extLst>
      <p:ext uri="{BB962C8B-B14F-4D97-AF65-F5344CB8AC3E}">
        <p14:creationId xmlns:p14="http://schemas.microsoft.com/office/powerpoint/2010/main" val="2788507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7FF39B-1671-46CD-8BDD-CF7854D5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121429-466C-49E9-9A93-9601F4EAD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D3B4B-FAEB-409C-85E5-59A19FDB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E1301A-8BC5-449A-BE68-B25B5163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BBAC3-FAB1-4DD0-9303-412DB5294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3/8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E2C83A-DAC5-4D5B-9D67-1917FE6C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FBEB68-DAA1-43F4-859E-7D23C162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Use The Actual Stimulus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FCB8B-7FAA-4C61-B5DA-8F97C036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Students inspect this before abstract TOK language.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e8c0908234511">
            <a:extLst>
              <a:ext uri="{96DAC541-7B7A-43D3-8B79-37D633B846F1}">
                <asvg:svgBlip xmlns:asvg="http://schemas.microsoft.com/office/drawing/2016/SVG/main" r:embed="R90629cf9d70942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762125"/>
            <a:ext cx="5143500" cy="35814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EF8380-B493-441F-96F4-4F0B8CC2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490537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D454C-2DC0-4778-8245-8941655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90700"/>
            <a:ext cx="76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453FE-D57F-4A4E-8973-E74A4237B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Stimulus Packet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A7E5CB-A23E-4878-97CC-E72D023CA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00300"/>
            <a:ext cx="44100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Object, Different AOK Stimulus A: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1: A shell, coin, photograph, or medicine bottle...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Same Object, Different AOK Stimulus B: Student-facing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2: A matrix with rows for AOK and columns for...</a:t>
            </a:r>
          </a:p>
          <a:p xmlns:a="http://schemas.openxmlformats.org/drawingml/2006/main">
            <a:pPr algn="l">
              <a:defRPr sz="12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4B8F74-74EC-4B41-8347-EFD811BC9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4905375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6B682-EACE-4236-8898-D933BDB9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33800"/>
            <a:ext cx="762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17215A-17C5-4A2B-9A86-7CAE43A43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433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Lesson Questions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F6F219-FA1D-4009-B3E4-020CB0AD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343400"/>
            <a:ext cx="44100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After inspecting Same Object, Different AOK Stimulus A,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what is your first knowledge claim?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Which exact detail from Same Object, Different AOK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Stimulus A did you use as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did you infer beyond the evidence?</a:t>
            </a:r>
          </a:p>
          <a:p xmlns:a="http://schemas.openxmlformats.org/drawingml/2006/main">
            <a:pPr algn="l">
              <a:defRPr sz="12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</p:spTree>
    <p:extLst>
      <p:ext uri="{BB962C8B-B14F-4D97-AF65-F5344CB8AC3E}">
        <p14:creationId xmlns:p14="http://schemas.microsoft.com/office/powerpoint/2010/main" val="53684689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94FDF1-D4E7-49FF-B06F-FCAE747F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52F282-EBC6-4C73-A1AF-2C710CA11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A71758-C011-48E4-A634-3DC37A8E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0A5293-0BB9-498A-99B1-798D5E45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27BA4B-9006-4D3D-8B18-7A2DDB459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4/8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7E6450-3442-4B34-82C1-03A349BD3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C63613-7542-482E-B2AF-4D84EE41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Run The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55017E-E032-49E4-A188-EAC1C92E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Keep the experience concrete before naming the TOK issue.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D4C015-C34F-40B3-A4A4-B55FD96B7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41082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DFADA7-A679-47B8-BE5A-A54D5386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EBDE53-49C6-4790-AEA2-30C66409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1930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Student-Facing Procedure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20687-B70E-4D03-8BA0-5CCD3467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9915525" cy="2847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1. Place the object in the centre of the room or slide.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2. Groups rotate through AOK stations and add one insight at each station.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3. After the rotation, groups identify which AOK produced the most surprising knowledge.</a:t>
            </a:r>
          </a:p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4. Students formulate a TOK exhibition-style commentary.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D735E-E480-44EE-B695-4E14543B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Student task: Use the stimulus cards to complete the observation/inference/evidence/confidence grid, then answer one TOK knowledge question connected to Cross-AOK.</a:t>
            </a:r>
          </a:p>
        </p:txBody>
      </p:sp>
    </p:spTree>
    <p:extLst>
      <p:ext uri="{BB962C8B-B14F-4D97-AF65-F5344CB8AC3E}">
        <p14:creationId xmlns:p14="http://schemas.microsoft.com/office/powerpoint/2010/main" val="3498037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3C00AD-AACA-485A-84A9-C61022E3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850707-604A-439E-B695-807D7B2F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CC7A5B-8E87-41EA-975E-B15F23726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B5F35-BF08-4780-8E99-39FC35FF3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07104E-4E2A-448A-B1AD-FDCAD922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5/8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378B0B-1A6A-42C0-838B-345D4E00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C64FC1-0D79-4A5D-9A4B-18FDA50A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Thinking Record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E3ECA5-C876-4593-A779-9C2B5D5E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Separate what students noticed from what they inferred.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3E6F1-3800-44B7-AE51-4B6510DA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B2263D-3F4A-4162-8DF0-57A649CE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AF12FA-FFE1-4F4B-B096-6CCFAC5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noticed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1905A-A791-4340-8153-8B786A49E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Observable details, data, words, actions, or results.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6546A8-98CD-4D9F-A31E-30EB4D00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DB0945-A25C-44BE-AF14-532E3806A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F8CA02-1E25-4224-A8FE-F59777DA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What I inferred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5429B-904B-46B1-8A8D-209A3EABD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meaning or explanation I added.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E8966A-B6CD-4A30-A534-E1C8BDD7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E48CA-6E66-43CB-B231-8A53CCAC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9EA22E-724B-4C0B-8224-09BCC83E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5BCA56-862D-44FC-ADAA-D5979BFAA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What supports my inference? What is missing?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FD72B-5AD7-4DB1-B621-B997724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38125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FC1D03-D7EF-4870-A2D0-D4E5DE32E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76200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0DC14-779B-482D-930B-A30ADFEDB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62175"/>
            <a:ext cx="1924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Confidence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B8C626-9A9F-422D-9581-795AF41F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62225"/>
            <a:ext cx="1885950" cy="1323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How sure am I, and why?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BAEAD-2F0F-4151-AEEC-6CB6B6BB9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104108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9E3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9639BB-B348-47FC-983D-45D7813D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762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679F25-9A04-4FAC-8386-383B3E33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672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Pair Share Prompt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C10461-AED4-4EA4-A5E9-2FE86917C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67300"/>
            <a:ext cx="99155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Compare one place where your first judgement changed. What caused the change: new evidence, another perspective, better language, or a revised method?</a:t>
            </a:r>
          </a:p>
        </p:txBody>
      </p:sp>
    </p:spTree>
    <p:extLst>
      <p:ext uri="{BB962C8B-B14F-4D97-AF65-F5344CB8AC3E}">
        <p14:creationId xmlns:p14="http://schemas.microsoft.com/office/powerpoint/2010/main" val="1745357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BE3B40-B6B9-459D-849B-C6F9F18C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13B7BE-8951-4481-A95C-41E2DF9A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91918E-72C4-4BF5-AAF7-E426324D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F2CF-62A1-456C-AE37-4EEA9B95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0F0181-A782-41A5-9FDC-C71FF051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6/8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5C1DB7-C5EA-41D8-89EF-55A5EC7E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797C96-5AE7-41F9-BAD7-B3098273E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TOK Debrief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2E3E6-2BA1-419F-863D-3CC3C773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Move from the activity result to a knowledge question.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7068DB-F667-4A0F-ADE7-3CD082EE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1ACC61-A1CB-4E95-B92D-5F906ABF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325B94-F37C-403F-AF9C-9E11EA5A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Debrief Questions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B770DF-2949-46E8-B4D4-63E0D68D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Knowledge question: How does context change what an object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helps us know?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one object belong to many knowledge communities?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an object suitable for the TOK exhibition?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63DD7C-E2E5-42B9-9794-4FA03486B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50482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F2C48-FD8E-4413-B534-B79A4E381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857375"/>
            <a:ext cx="762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FFBB1-8FE3-4865-9A97-F52735AC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066925"/>
            <a:ext cx="45910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Knowledge Questions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E3714C-13CE-477F-B7DD-8E62C315C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466975"/>
            <a:ext cx="45529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How does context change what an object helps us know?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Can one object belong to many knowledge communities?</a:t>
            </a:r>
          </a:p>
          <a:p xmlns:a="http://schemas.openxmlformats.org/drawingml/2006/main">
            <a:pPr algn="l">
              <a:defRPr sz="172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makes an object suitable for the TOK exhibition?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8DA9F6-CD27-41E0-8F29-9A430B3A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0382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Best discussion move: ask students to name a criterion for reliability, not just say “it depends.”</a:t>
            </a:r>
          </a:p>
        </p:txBody>
      </p:sp>
    </p:spTree>
    <p:extLst>
      <p:ext uri="{BB962C8B-B14F-4D97-AF65-F5344CB8AC3E}">
        <p14:creationId xmlns:p14="http://schemas.microsoft.com/office/powerpoint/2010/main" val="17930257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A45B16-194A-44A7-B224-29F8D614D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DA6F8-1C1A-4A33-BAE4-5C0F524E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F8157-F04D-451C-B602-F5BE9EF5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FE69C6-C0A5-487D-B417-1A6917E6C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ED61CD-E701-4A8F-8DA4-7919AB335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7/8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7992EF-C193-4EA4-AD7E-88A1E786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5CF3C5-ACEF-44D8-99AA-86AB145E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Adapt &amp; Extend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441631-2E3D-4F1D-9C0D-E07E8869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Use the same core activity with different support levels.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B99BA4-4825-4A7B-AB45-98C411B0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D5BE9-4E8A-4C94-8187-E16D4AB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63D1F-2788-49C3-8355-3D995ED2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0025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Sample Student 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28A31B-8E49-40E4-88A2-6FB2548D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0030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student claim connected to Same Object, Different AOK: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"My first judgement felt obvious, but my evidence was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thinner than I realised."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revised claim that names a method, perspective, or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language choice that changed the result.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EFA318-4DB8-4FAE-BADF-06CA59D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9053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4C705F-20A3-4077-8F34-A2E566B4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7620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AC1F1-D69C-4A69-B528-FC021E4C4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48100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Extensions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86426-ECC7-43A0-B294-0C95F3F4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48150"/>
            <a:ext cx="44100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Design a second version of the activity that tests the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same knowledge issue in another AOK.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Find a real-world example where the same knowledge problem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  matters outside the classroom.</a:t>
            </a:r>
          </a:p>
          <a:p xmlns:a="http://schemas.openxmlformats.org/drawingml/2006/main">
            <a:pPr algn="l">
              <a:defRPr sz="165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Continue with teacher guidance.</a:t>
            </a:r>
          </a:p>
        </p:txBody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2b860d17994866">
            <a:extLst>
              <a:ext uri="{96DAC541-7B7A-43D3-8B79-37D633B846F1}">
                <asvg:svgBlip xmlns:asvg="http://schemas.microsoft.com/office/drawing/2016/SVG/main" r:embed="R1c45982e9e3643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34125" y="1790700"/>
            <a:ext cx="4667250" cy="3429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05756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E7E4EB-8E7F-4CBB-8B8A-4716AE5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FB3154-E8B5-4FC7-B03B-6D6404D98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57554D-C388-4873-9DEB-0B486E32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2E52B8-4FDF-4C25-A267-622E27DF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722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TOK Cognitive Science Activity Bank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42A20B-A6F1-4477-AFC0-26FD92D0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61722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8/8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BB0099-CD16-40F2-930E-8BDE5D92D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790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6448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448"/>
                </a:solidFill>
                <a:latin typeface="Aptos"/>
                <a:ea typeface="Aptos"/>
                <a:cs typeface="Aptos"/>
              </a:rPr>
              <a:t>Cross-AOK  |  30-40 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92CA93-57D0-434D-A6E9-527563FD0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38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Exhibition &amp; Exit Ticket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07255E-D38C-49C6-B882-74C2D050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8572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Turn the classroom moment into transferable TOK thinking.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49E6F-2BD8-4E7B-8D95-6D4D5CB72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51435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7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3E3232-DF45-4512-AE08-FA75D859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5E7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2BF17-2F50-4573-8875-2D50B6EC1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4686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Exhibition Object Idea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39A8FA-EAE4-4B9A-9F98-68F12F61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66975"/>
            <a:ext cx="4648200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The actual object with annotated AOK cards.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B3209-45BF-415E-9434-C923CA5C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490537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4A750C-19DF-413E-B69A-0D91069A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57375"/>
            <a:ext cx="762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65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B0DDD4-B999-4EDB-821A-6A182E415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66925"/>
            <a:ext cx="444817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Exit 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B30E0-C62F-4A17-A789-0986E0E8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66975"/>
            <a:ext cx="4410075" cy="942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Before this activity, I assumed...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The activity challenged that because...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A better knowledge question is...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C213AC-AADD-4377-8A39-BC96A601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41082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DED8C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D4F913-963E-4527-8D7D-47FA3F78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87A19-EFE0-4B0C-9379-C940A2C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10050"/>
            <a:ext cx="99536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Related Activities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20F7E-384F-4CB9-A55C-2F81CFEF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10100"/>
            <a:ext cx="99155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What Counts as Evidence?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Reliability Ranking</a:t>
            </a:r>
          </a:p>
          <a:p xmlns:a="http://schemas.openxmlformats.org/drawingml/2006/main">
            <a:pPr algn="l">
              <a:defRPr sz="1800" b="0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4A5872"/>
                </a:solidFill>
                <a:latin typeface="Aptos"/>
                <a:ea typeface="Aptos"/>
                <a:cs typeface="Aptos"/>
              </a:rPr>
              <a:t>• Music and Emotion Experiment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8F0C85-BC55-458C-951A-68ACEE7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382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A5872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A5872"/>
                </a:solidFill>
                <a:latin typeface="Aptos"/>
                <a:ea typeface="Aptos"/>
                <a:cs typeface="Aptos"/>
              </a:rPr>
              <a:t>Free while the library is being built. Designed for future premium teacher packs.</a:t>
            </a:r>
          </a:p>
        </p:txBody>
      </p:sp>
    </p:spTree>
    <p:extLst>
      <p:ext uri="{BB962C8B-B14F-4D97-AF65-F5344CB8AC3E}">
        <p14:creationId xmlns:p14="http://schemas.microsoft.com/office/powerpoint/2010/main" val="1491359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2026-06-20T10:31:37.7100000Z</dcterms:created>
  <dcterms:modified xsi:type="dcterms:W3CDTF">2026-06-20T10:31:37.7100000Z</dcterms:modified>
</coreProperties>
</file>