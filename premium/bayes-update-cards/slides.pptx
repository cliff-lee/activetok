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08b801e0d412a" /><Relationship Type="http://schemas.openxmlformats.org/officeDocument/2006/relationships/extended-properties" Target="/docProps/app.xml" Id="Rc83d6dc29ff7454c" /><Relationship Type="http://schemas.openxmlformats.org/officeDocument/2006/relationships/officeDocument" Target="/ppt/presentation.xml" Id="R6bd1d31cbad742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05c1a0069a44e7"/>
  </p:sldMasterIdLst>
  <p:notesMasterIdLst>
    <p:notesMasterId xmlns:r="http://schemas.openxmlformats.org/officeDocument/2006/relationships" r:id="R9c10aa0ff82046e5"/>
  </p:notesMasterIdLst>
  <p:sldIdLst>
    <p:sldId xmlns:r="http://schemas.openxmlformats.org/officeDocument/2006/relationships" id="256" r:id="R54507391ed3341f6"/>
    <p:sldId xmlns:r="http://schemas.openxmlformats.org/officeDocument/2006/relationships" id="257" r:id="R3c695c1825324086"/>
    <p:sldId xmlns:r="http://schemas.openxmlformats.org/officeDocument/2006/relationships" id="258" r:id="R99505c9b5efe4b20"/>
    <p:sldId xmlns:r="http://schemas.openxmlformats.org/officeDocument/2006/relationships" id="259" r:id="R13b674d0d21b44b5"/>
    <p:sldId xmlns:r="http://schemas.openxmlformats.org/officeDocument/2006/relationships" id="260" r:id="Rb235b9ef89984217"/>
    <p:sldId xmlns:r="http://schemas.openxmlformats.org/officeDocument/2006/relationships" id="261" r:id="R4faf2cf103c141b5"/>
    <p:sldId xmlns:r="http://schemas.openxmlformats.org/officeDocument/2006/relationships" id="262" r:id="R4996cff6d8554d29"/>
    <p:sldId xmlns:r="http://schemas.openxmlformats.org/officeDocument/2006/relationships" id="263" r:id="R081ebf6783584b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2d10da91a34917" /><Relationship Type="http://schemas.openxmlformats.org/officeDocument/2006/relationships/slideMaster" Target="/ppt/slideMasters/slideMaster1.xml" Id="R2205c1a0069a44e7" /><Relationship Type="http://schemas.openxmlformats.org/officeDocument/2006/relationships/notesMaster" Target="/ppt/notesMasters/notesMaster1.xml" Id="R9c10aa0ff82046e5" /><Relationship Type="http://schemas.openxmlformats.org/officeDocument/2006/relationships/presProps" Target="/ppt/presProps.xml" Id="R289073df75fa4167" /><Relationship Type="http://schemas.openxmlformats.org/officeDocument/2006/relationships/tableStyles" Target="/ppt/tableStyles.xml" Id="Ra516699eeade477f" /><Relationship Type="http://schemas.openxmlformats.org/officeDocument/2006/relationships/slide" Target="/ppt/slides/slide1.xml" Id="R54507391ed3341f6" /><Relationship Type="http://schemas.openxmlformats.org/officeDocument/2006/relationships/slide" Target="/ppt/slides/slide2.xml" Id="R3c695c1825324086" /><Relationship Type="http://schemas.openxmlformats.org/officeDocument/2006/relationships/slide" Target="/ppt/slides/slide3.xml" Id="R99505c9b5efe4b20" /><Relationship Type="http://schemas.openxmlformats.org/officeDocument/2006/relationships/slide" Target="/ppt/slides/slide4.xml" Id="R13b674d0d21b44b5" /><Relationship Type="http://schemas.openxmlformats.org/officeDocument/2006/relationships/slide" Target="/ppt/slides/slide5.xml" Id="Rb235b9ef89984217" /><Relationship Type="http://schemas.openxmlformats.org/officeDocument/2006/relationships/slide" Target="/ppt/slides/slide6.xml" Id="R4faf2cf103c141b5" /><Relationship Type="http://schemas.openxmlformats.org/officeDocument/2006/relationships/slide" Target="/ppt/slides/slide7.xml" Id="R4996cff6d8554d29" /><Relationship Type="http://schemas.openxmlformats.org/officeDocument/2006/relationships/slide" Target="/ppt/slides/slide8.xml" Id="R081ebf6783584b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81721fdb545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64d25e9504503" /><Relationship Type="http://schemas.openxmlformats.org/officeDocument/2006/relationships/notesMaster" Target="/ppt/notesMasters/notesMaster1.xml" Id="Rb1259ae29cc24e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2d6ef6bae4f4b" /><Relationship Type="http://schemas.openxmlformats.org/officeDocument/2006/relationships/notesMaster" Target="/ppt/notesMasters/notesMaster1.xml" Id="Rd5b51410be6042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f2098383f84e31" /><Relationship Type="http://schemas.openxmlformats.org/officeDocument/2006/relationships/notesMaster" Target="/ppt/notesMasters/notesMaster1.xml" Id="R6a618597720445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cf88d450ca4cb6" /><Relationship Type="http://schemas.openxmlformats.org/officeDocument/2006/relationships/notesMaster" Target="/ppt/notesMasters/notesMaster1.xml" Id="R12ce6effa1d841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f440277f3241df" /><Relationship Type="http://schemas.openxmlformats.org/officeDocument/2006/relationships/notesMaster" Target="/ppt/notesMasters/notesMaster1.xml" Id="Rc1de2fec5a9149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00539f2877455a" /><Relationship Type="http://schemas.openxmlformats.org/officeDocument/2006/relationships/notesMaster" Target="/ppt/notesMasters/notesMaster1.xml" Id="Rf027f63175864c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e03a99629849e1" /><Relationship Type="http://schemas.openxmlformats.org/officeDocument/2006/relationships/notesMaster" Target="/ppt/notesMasters/notesMaster1.xml" Id="R278f34a940a944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2a449600f1410e" /><Relationship Type="http://schemas.openxmlformats.org/officeDocument/2006/relationships/notesMaster" Target="/ppt/notesMasters/notesMaster1.xml" Id="Rbf8d7e2313d2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1a4c79fe145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24e30d204c4929" /><Relationship Type="http://schemas.openxmlformats.org/officeDocument/2006/relationships/slideLayout" Target="/ppt/slideLayouts/slideLayout1.xml" Id="Raac4d21fbcae40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c4d21fbcae40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f62449c8e490e" /><Relationship Type="http://schemas.openxmlformats.org/officeDocument/2006/relationships/image" Target="/ppt/media/image.png" Id="R6ac7beee7ab74215" /><Relationship Type="http://schemas.openxmlformats.org/officeDocument/2006/relationships/image" Target="/ppt/media/image.svg" Id="R69e12bbf22db48e4" /><Relationship Type="http://schemas.openxmlformats.org/officeDocument/2006/relationships/notesSlide" Target="/ppt/notesSlides/notesSlide1.xml" Id="Rd9b2ef73858f46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c858bb81344db" /><Relationship Type="http://schemas.openxmlformats.org/officeDocument/2006/relationships/notesSlide" Target="/ppt/notesSlides/notesSlide2.xml" Id="R1580352f78b44f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536f6b0bf44f2" /><Relationship Type="http://schemas.openxmlformats.org/officeDocument/2006/relationships/image" Target="/ppt/media/image2.png" Id="Rc44cd1ea9f3049a3" /><Relationship Type="http://schemas.openxmlformats.org/officeDocument/2006/relationships/image" Target="/ppt/media/image2.svg" Id="R5a3c4c551b6640a6" /><Relationship Type="http://schemas.openxmlformats.org/officeDocument/2006/relationships/notesSlide" Target="/ppt/notesSlides/notesSlide3.xml" Id="Rcd517ec9d4ff4b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d456f86124da4" /><Relationship Type="http://schemas.openxmlformats.org/officeDocument/2006/relationships/notesSlide" Target="/ppt/notesSlides/notesSlide4.xml" Id="Rb9ebda09d5374f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f2e56076145f0" /><Relationship Type="http://schemas.openxmlformats.org/officeDocument/2006/relationships/notesSlide" Target="/ppt/notesSlides/notesSlide5.xml" Id="R5698b2c2f7a346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389c8d3f54243" /><Relationship Type="http://schemas.openxmlformats.org/officeDocument/2006/relationships/notesSlide" Target="/ppt/notesSlides/notesSlide6.xml" Id="Rac9d831dd51640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47cc692a24add" /><Relationship Type="http://schemas.openxmlformats.org/officeDocument/2006/relationships/image" Target="/ppt/media/image3.png" Id="R1c00aecb85244d1d" /><Relationship Type="http://schemas.openxmlformats.org/officeDocument/2006/relationships/image" Target="/ppt/media/image3.svg" Id="R987661fa54534096" /><Relationship Type="http://schemas.openxmlformats.org/officeDocument/2006/relationships/notesSlide" Target="/ppt/notesSlides/notesSlide7.xml" Id="R88c92a085509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1547b24934f31" /><Relationship Type="http://schemas.openxmlformats.org/officeDocument/2006/relationships/notesSlide" Target="/ppt/notesSlides/notesSlide8.xml" Id="R13738d99b80947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1785C1-C9FF-4798-B42A-107CC087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7CC70-5633-4672-8999-8C2DDF51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3B454-A9F0-45FD-839F-CF2AFDE1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B9A09-4720-445C-8FCF-ADB3FC24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A0F24-B032-4ECC-8919-962156B5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85605-ED7F-4B45-B398-80E2492D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6368E-4083-4BFB-80DA-C2FD7F86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Bayes Update Cards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33397-4B08-4812-A01D-158BC43A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7beee7ab74215">
            <a:extLst>
              <a:ext uri="{96DAC541-7B7A-43D3-8B79-37D633B846F1}">
                <asvg:svgBlip xmlns:asvg="http://schemas.microsoft.com/office/drawing/2016/SVG/main" r:embed="R69e12bbf22db48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209DD-D951-4FC4-8E5B-E3848731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73135-010C-4376-B59B-C9EA5D9F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A66A4-0B16-4AE0-8605-CED7E1CE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6B000-E533-4088-ACE8-59089F71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New evidence updates prior probability; it does not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replace the background rate.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772AB-564D-41D9-BB86-05ED11DF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C1BB0-09DF-4F64-99C6-EB67254A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31D72-4FB3-4213-8CF2-8E47E062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D943D-FFCB-43F9-BAA9-6EA5CBB9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8248982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D6F73A-84DB-4067-87CA-F12ED2AF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49EF2-C78E-4DD4-917C-40002CA0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E9148-B9FE-4693-807B-328D7F1D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2BEF5-7EA1-4766-A578-14ACD366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8F95A-022C-4B8F-823C-65E06047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9B8A8-D064-48E6-B439-78DDB07F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BAA58-B522-4200-8548-29586E82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A50A0-7A46-470E-9811-425DDDA0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FD4DF-CFA9-42AC-A50C-6D2F366F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B6C2D-0B6C-4385-92AE-789EABDE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E88A2-708C-45CB-8E64-682E0628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63795-5EB2-4617-A5A6-329BC264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distinguish the probability of evidence given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hypothesis from the probability of a hypothesis given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New evidence updates prior probability; it does not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replace the background rate.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6B095-9FD7-49AB-9D58-071E1C91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1FEB2-5ED3-4CBF-8628-F14392DF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4A602-F62F-46D8-9922-AE8CEEA3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092E2-9F5D-41EF-9649-1FCD4290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Frequency cards for a fictional screening test.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Two-colour counters or a 1000-person grid.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Natural-frequency grid with true positives, false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positives, false negatives, and true negatives.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Risk communication comparison card: words, percentage,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frequency, visual grid, and notation.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07147-124B-4989-8C7F-E6D38285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8162231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4EAA5D-439E-48AE-BDF7-01D3857C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F85C3-2398-4A24-8833-E6E07436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E07BF-8838-4F98-BACB-54D53376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1375C-93C4-478E-AD0C-0F28DCD9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80F63-0384-4C18-B79A-06607767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062F0-CBBC-48F6-8315-1F8344D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B5B8C-1CF4-46C5-AE38-CBE0145E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AF969-2B3C-4F75-B4F8-7464E381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cd1ea9f3049a3">
            <a:extLst>
              <a:ext uri="{96DAC541-7B7A-43D3-8B79-37D633B846F1}">
                <asvg:svgBlip xmlns:asvg="http://schemas.microsoft.com/office/drawing/2016/SVG/main" r:embed="R5a3c4c551b6640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7C2FC-68E0-4BF0-A958-CC8E5500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41C8B-06D9-4483-9265-D08BE66A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ED8E9-D145-4B53-8254-2B3F4BA7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047CE-7C85-46A5-8C0E-3F7C079D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Bayes Update Cards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Fictional case: 10 of 1000 people have Condition X; a...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Bayes Update Cards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Notation contrast card: P(H | +) is not the same as P(+ |...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A4CA4-4190-4943-9869-F4A3B856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3DEB8-C723-4AEA-9C17-5FBC461A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7CB62-EABA-4078-ACB1-7D3B4202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03812-3920-426B-B8B3-8498AE27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Bayes Update Cards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Bayes Update Cards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188274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A4C7F-2506-4767-9F5C-200E708D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675AF-02C6-4277-91E5-3BDF4CDE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10C71-496B-412C-9FAC-B339AFB9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2B2E7-77B5-4914-AD14-0BB6D1E9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1EF8E-6956-46A7-9823-B719E392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F1464-8B60-4148-9929-933E5CEF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B9634-05A9-45A8-9F47-4162B558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03A6E-2426-45A4-8DA7-A29C1C57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E5619-4E39-4554-836B-190A8B5A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58816-7714-4BD2-AC39-2173EF57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5B27F-5921-4F32-8AA2-B5BD3B92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A68DF-BEF7-4435-AACA-0C5D0383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students a fictional condition, base rate, and test accuracy in words.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Ask for an intuitive estimate after a positive result.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Build the case using natural frequencies, separating true positives from false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positives.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Introduce the update calculation P(H | +) = 9 / (9 + 99) = 1 / 12 ≈ 8.3%.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Compare how the same information feels in words, percentages, frequencies, and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notation.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50136-D6E0-4760-8C18-E5377B7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15553973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119F8-889F-4223-BC16-8FDCE267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7B505-ED74-49AB-88F0-B614D03D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52E61-0679-47A9-ABD0-7F19F077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CF5ED-8085-4C8F-B618-48CDADB6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AB390-AA68-445B-A4A8-58E79A37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DD2B3-B9E3-414E-BAA3-53E57BE3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0E4EB-7CBE-4B3B-9C84-85AEF972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95959-A59F-4496-98B5-59DD8941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86895-F536-454D-B341-C010E93E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A99B8-D45E-41A8-AF6A-7AFE9190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EA6DF-EE6B-4B84-96F2-4C40751B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D7430-922A-4789-B804-132BC1C0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AB11D-F75B-4914-BC6C-5FB28122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B5F6B-AA42-475B-9E43-088389FB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C08FF-60DF-41D3-845A-ADFC4AC8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65B51-5796-4942-A430-A541CF05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89B1C-83DE-4BE5-846C-045E899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6BBBB-0B03-4183-80C8-5DBCF4AC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95718-B786-45C6-B242-2AEF94A5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05CFE-B424-49CE-AD41-24DFFC94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057CE-AE4E-4D28-90B4-AE8E226D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55519-81B0-43E4-A11C-6F07BEB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5C5A7-88BC-4092-A8C3-5599442A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41075-FFE5-46D2-A466-BC50D87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EF821-971F-44E3-9A9F-951196A0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574D5-B093-4D49-91A1-710590C5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7BE077-5CD0-4402-B76A-30B9B92D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6DB13-4116-469E-BD1B-14FDA802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20179628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CF9EBA-C63F-4E09-933C-F324A465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DC0C8-DD33-43CC-8A86-A8370689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26681-DFD1-4E6D-805A-FA12E657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1F9BA-3C62-49D0-8EBC-93CF6B16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8FDB3-90E8-4A88-B13F-6360F6D5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D1DE7-E121-4AAE-B800-83B2E481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8E2E6-2B68-416D-BDEB-F2571DAA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06728-5F38-461A-8806-B62F346F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16B50-9430-443E-87C1-556C1B0D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4C16B-9A72-43D2-AD75-34BCBF96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A1878-95F8-4322-B819-C1BD9DAB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F322D-A6F2-4786-B58F-EA90765E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does mathematical notation change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visible in a knowledge claim?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do many knowers confuse P(H | +) with P(+ | H)?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responsibilities come with communicating risk to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non-specialists?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699C3-2723-4FA1-AA25-AA2F6F3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945F8-38E5-429C-9232-26EA973A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2979A-577D-4131-9052-7021593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3C04A-FE2A-4E42-902E-AB640635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notation shape mathematical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is a mathematically correct risk claim still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misleading?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 representation responsible?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0CFC1-9DA2-4156-971A-3941BEED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2360022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64E11-0C0B-41F4-83EB-5E499865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91199-7FE0-4D5D-9F25-E6BCB35A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59C84-6F72-4CE5-BCB5-4A5B80F0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BD302-5061-4F5C-AE2D-944C3043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ECEA4-9586-443C-9169-A7733204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696D6-7B17-4ECC-A510-BC3C6F7C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9F436-170E-49EE-A2A0-2751495F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55C69-6C1C-4185-BEDC-9376557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0A652-E118-4742-9B30-07ACDC08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F9DAD-6B69-4051-A499-4D0E9A5F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6FC5E-8A9F-443E-9F27-543C0F82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305B0-A9C0-456A-AB8B-95696D77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confused test accuracy with the chance the person really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had the condition.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frequency grid made the denominator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1163D-CAD6-43EB-B52D-55742F9F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6D635-D126-4BA1-B740-985B018C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A836A-C139-4E38-B2E2-DFA3BBFC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B24EF-0930-4744-B269-1CA7AEF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write a public-health risk statement in three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formats and critique each one.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Bayesian updating with search rankings, eyewitness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evidence, or historical source reliability.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0aecb85244d1d">
            <a:extLst>
              <a:ext uri="{96DAC541-7B7A-43D3-8B79-37D633B846F1}">
                <asvg:svgBlip xmlns:asvg="http://schemas.microsoft.com/office/drawing/2016/SVG/main" r:embed="R987661fa545340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37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30B8C-3553-4FB8-BEAF-C02FF9E4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CCE33-EDAA-4359-858C-06EFC89A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3AB81-9FFF-4557-A0FE-5D472A4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AC165-9934-46B5-AFFE-E0D811F4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C8121-7DEF-402E-A6A7-20DEDED1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90F4D-C1B5-4BBE-BC92-65E5ABCB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6DB9C-5BEF-45E0-9A65-2D9F14CC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0D097-8759-4C95-91BA-B6F4E612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D8438-BC4D-48B7-9AB6-11AEBA96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03D1D-09DF-4D1E-9482-2C389524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A4239-2C9B-4240-B19E-11CC04EB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45FFB-5552-4CC5-A15E-D25E3814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frequency grid annotated with P(H | +) and false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positives.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89167-FAE8-4AC4-AD1D-C135CAF9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EAE1D-A245-4949-AD88-8FCB8D59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55AA5-A4E3-49DF-A290-BDB90658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2DB4E-81A2-462C-8EEE-E0D91AA9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96595-7A56-4FD7-8A28-98C09094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C36AE-E57A-424B-AD87-C69A9CF6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7986B-C40F-419B-A7EC-556B224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046C2-16D8-4E26-8615-265C4C4D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Base Rate Neglect Clinic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Monty Hall Shock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Calculator Trust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6A322-AB9C-4A15-B48D-0D979E52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74379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2026-06-20T10:31:41.4960000Z</dcterms:created>
  <dcterms:modified xsi:type="dcterms:W3CDTF">2026-06-20T10:31:41.4960000Z</dcterms:modified>
</coreProperties>
</file>